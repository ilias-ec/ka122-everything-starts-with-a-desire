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4630400" cy="8229600"/>
  <p:notesSz cx="8229600" cy="14630400"/>
  <p:embeddedFontLst>
    <p:embeddedFont>
      <p:font typeface="Outfit Extra Bold"/>
      <p:regular r:id="rId14"/>
    </p:embeddedFont>
    <p:embeddedFont>
      <p:font typeface="Arimo"/>
      <p:regular r:id="rId15"/>
    </p:embeddedFont>
    <p:embeddedFont>
      <p:font typeface="Arimo"/>
      <p:regular r:id="rId16"/>
    </p:embeddedFont>
    <p:embeddedFont>
      <p:font typeface="Arimo"/>
      <p:regular r:id="rId17"/>
    </p:embeddedFont>
    <p:embeddedFont>
      <p:font typeface="Arimo"/>
      <p:regular r:id="rId18"/>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pn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png"/><Relationship Id="rId2" Type="http://schemas.openxmlformats.org/officeDocument/2006/relationships/image" Target="../media/image-1003-2.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png"/><Relationship Id="rId2" Type="http://schemas.openxmlformats.org/officeDocument/2006/relationships/image" Target="../media/image-1004-2.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5-1.png"/><Relationship Id="rId2" Type="http://schemas.openxmlformats.org/officeDocument/2006/relationships/image" Target="../media/image-1005-2.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6-1.png"/><Relationship Id="rId2" Type="http://schemas.openxmlformats.org/officeDocument/2006/relationships/image" Target="../media/image-1006-2.png"/><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7-1.png"/><Relationship Id="rId2" Type="http://schemas.openxmlformats.org/officeDocument/2006/relationships/image" Target="../media/image-1007-2.pn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8-1.png"/><Relationship Id="rId2" Type="http://schemas.openxmlformats.org/officeDocument/2006/relationships/image" Target="../media/image-1008-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slideLayout" Target="../slideLayouts/slideLayout5.xml"/><Relationship Id="rId1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7.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190059" y="553641"/>
            <a:ext cx="7736681" cy="1884878"/>
          </a:xfrm>
          <a:prstGeom prst="rect">
            <a:avLst/>
          </a:prstGeom>
          <a:noFill/>
          <a:ln/>
        </p:spPr>
        <p:txBody>
          <a:bodyPr wrap="square" lIns="0" tIns="0" rIns="0" bIns="0" rtlCol="0" anchor="t"/>
          <a:lstStyle/>
          <a:p>
            <a:pPr algn="l" indent="0" marL="0">
              <a:lnSpc>
                <a:spcPts val="4900"/>
              </a:lnSpc>
              <a:buNone/>
            </a:pPr>
            <a:r>
              <a:rPr lang="en-US" sz="3950" b="1" dirty="0">
                <a:solidFill>
                  <a:srgbClr val="231971"/>
                </a:solidFill>
                <a:latin typeface="Outfit Extra Bold" pitchFamily="34" charset="0"/>
                <a:ea typeface="Outfit Extra Bold" pitchFamily="34" charset="-122"/>
                <a:cs typeface="Outfit Extra Bold" pitchFamily="34" charset="-120"/>
              </a:rPr>
              <a:t>Οι προτεραιότητες της Ευρωπαϊκής Ένωσης την περίοδο 2024-2029</a:t>
            </a:r>
            <a:endParaRPr lang="en-US" sz="3950" dirty="0"/>
          </a:p>
        </p:txBody>
      </p:sp>
      <p:sp>
        <p:nvSpPr>
          <p:cNvPr id="4" name="Text 1"/>
          <p:cNvSpPr/>
          <p:nvPr/>
        </p:nvSpPr>
        <p:spPr>
          <a:xfrm>
            <a:off x="6190059" y="2740104"/>
            <a:ext cx="7736681" cy="965121"/>
          </a:xfrm>
          <a:prstGeom prst="rect">
            <a:avLst/>
          </a:prstGeom>
          <a:noFill/>
          <a:ln/>
        </p:spPr>
        <p:txBody>
          <a:bodyPr wrap="square" lIns="0" tIns="0" rIns="0" bIns="0" rtlCol="0" anchor="t"/>
          <a:lstStyle/>
          <a:p>
            <a:pPr algn="l" indent="0" marL="0">
              <a:lnSpc>
                <a:spcPts val="2500"/>
              </a:lnSpc>
              <a:buNone/>
            </a:pPr>
            <a:r>
              <a:rPr lang="en-US" sz="1550" dirty="0">
                <a:solidFill>
                  <a:srgbClr val="2A2742"/>
                </a:solidFill>
                <a:latin typeface="Arimo" pitchFamily="34" charset="0"/>
                <a:ea typeface="Arimo" pitchFamily="34" charset="-122"/>
                <a:cs typeface="Arimo" pitchFamily="34" charset="-120"/>
              </a:rPr>
              <a:t>Τον Ιούνιο του 2024 το Ευρωπαϊκό Συμβούλιο καθόρισε τις προτεραιότητές του στο στρατηγικό θεματολόγιο της ΕΕ για την περίοδο 2024-2029, που αποτελεί τη βάση των πολιτικών προτεραιοτήτων της Ευρωπαϊκής Επιτροπής.</a:t>
            </a:r>
            <a:endParaRPr lang="en-US" sz="1550" dirty="0"/>
          </a:p>
        </p:txBody>
      </p:sp>
      <p:sp>
        <p:nvSpPr>
          <p:cNvPr id="5" name="Text 2"/>
          <p:cNvSpPr/>
          <p:nvPr/>
        </p:nvSpPr>
        <p:spPr>
          <a:xfrm>
            <a:off x="6190059" y="3931325"/>
            <a:ext cx="7736681" cy="643414"/>
          </a:xfrm>
          <a:prstGeom prst="rect">
            <a:avLst/>
          </a:prstGeom>
          <a:noFill/>
          <a:ln/>
        </p:spPr>
        <p:txBody>
          <a:bodyPr wrap="square" lIns="0" tIns="0" rIns="0" bIns="0" rtlCol="0" anchor="t"/>
          <a:lstStyle/>
          <a:p>
            <a:pPr algn="l" indent="0" marL="0">
              <a:lnSpc>
                <a:spcPts val="2500"/>
              </a:lnSpc>
              <a:buNone/>
            </a:pPr>
            <a:r>
              <a:rPr lang="en-US" sz="1550" dirty="0">
                <a:solidFill>
                  <a:srgbClr val="2A2742"/>
                </a:solidFill>
                <a:latin typeface="Arimo" pitchFamily="34" charset="0"/>
                <a:ea typeface="Arimo" pitchFamily="34" charset="-122"/>
                <a:cs typeface="Arimo" pitchFamily="34" charset="-120"/>
              </a:rPr>
              <a:t>Η ανάγκη για ένα σαφές στρατηγικό σχέδιο γίνεται όλο και πιο επιτακτική. Τα τελευταία χρόνια η ΕΕ έχει αντιμετωπίσει πολλές κρίσεις:</a:t>
            </a:r>
            <a:endParaRPr lang="en-US" sz="1550" dirty="0"/>
          </a:p>
        </p:txBody>
      </p:sp>
      <p:sp>
        <p:nvSpPr>
          <p:cNvPr id="6" name="Text 3"/>
          <p:cNvSpPr/>
          <p:nvPr/>
        </p:nvSpPr>
        <p:spPr>
          <a:xfrm>
            <a:off x="6190059" y="4800838"/>
            <a:ext cx="7736681" cy="321707"/>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A2742"/>
                </a:solidFill>
                <a:latin typeface="Arimo" pitchFamily="34" charset="0"/>
                <a:ea typeface="Arimo" pitchFamily="34" charset="-122"/>
                <a:cs typeface="Arimo" pitchFamily="34" charset="-120"/>
              </a:rPr>
              <a:t>την καταπολέμηση της κλιματικής αλλαγής</a:t>
            </a:r>
            <a:endParaRPr lang="en-US" sz="1550" dirty="0"/>
          </a:p>
        </p:txBody>
      </p:sp>
      <p:sp>
        <p:nvSpPr>
          <p:cNvPr id="7" name="Text 4"/>
          <p:cNvSpPr/>
          <p:nvPr/>
        </p:nvSpPr>
        <p:spPr>
          <a:xfrm>
            <a:off x="6190059" y="5192911"/>
            <a:ext cx="7736681" cy="321707"/>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A2742"/>
                </a:solidFill>
                <a:latin typeface="Arimo" pitchFamily="34" charset="0"/>
                <a:ea typeface="Arimo" pitchFamily="34" charset="-122"/>
                <a:cs typeface="Arimo" pitchFamily="34" charset="-120"/>
              </a:rPr>
              <a:t>την πανδημία COVID-19</a:t>
            </a:r>
            <a:endParaRPr lang="en-US" sz="1550" dirty="0"/>
          </a:p>
        </p:txBody>
      </p:sp>
      <p:sp>
        <p:nvSpPr>
          <p:cNvPr id="8" name="Text 5"/>
          <p:cNvSpPr/>
          <p:nvPr/>
        </p:nvSpPr>
        <p:spPr>
          <a:xfrm>
            <a:off x="6190059" y="5584984"/>
            <a:ext cx="7736681" cy="321707"/>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A2742"/>
                </a:solidFill>
                <a:latin typeface="Arimo" pitchFamily="34" charset="0"/>
                <a:ea typeface="Arimo" pitchFamily="34" charset="-122"/>
                <a:cs typeface="Arimo" pitchFamily="34" charset="-120"/>
              </a:rPr>
              <a:t>τη στήριξη της Ουκρανίας στον επιθετικό πόλεμο της Ρωσίας.</a:t>
            </a:r>
            <a:endParaRPr lang="en-US" sz="1550" dirty="0"/>
          </a:p>
        </p:txBody>
      </p:sp>
      <p:sp>
        <p:nvSpPr>
          <p:cNvPr id="9" name="Text 6"/>
          <p:cNvSpPr/>
          <p:nvPr/>
        </p:nvSpPr>
        <p:spPr>
          <a:xfrm>
            <a:off x="6190059" y="6132790"/>
            <a:ext cx="7736681" cy="965121"/>
          </a:xfrm>
          <a:prstGeom prst="rect">
            <a:avLst/>
          </a:prstGeom>
          <a:noFill/>
          <a:ln/>
        </p:spPr>
        <p:txBody>
          <a:bodyPr wrap="square" lIns="0" tIns="0" rIns="0" bIns="0" rtlCol="0" anchor="t"/>
          <a:lstStyle/>
          <a:p>
            <a:pPr algn="l" indent="0" marL="0">
              <a:lnSpc>
                <a:spcPts val="2500"/>
              </a:lnSpc>
              <a:buNone/>
            </a:pPr>
            <a:r>
              <a:rPr lang="en-US" sz="1550" dirty="0">
                <a:solidFill>
                  <a:srgbClr val="2A2742"/>
                </a:solidFill>
                <a:latin typeface="Arimo" pitchFamily="34" charset="0"/>
                <a:ea typeface="Arimo" pitchFamily="34" charset="-122"/>
                <a:cs typeface="Arimo" pitchFamily="34" charset="-120"/>
              </a:rPr>
              <a:t>Εστιάζοντας σε νέους τομείς προτεραιότητας, η ΕΕ θα βοηθήσει την Ευρώπη να καταστεί πιο κυρίαρχη και καλύτερα εξοπλισμένη για την αντιμετώπιση μελλοντικών προκλήσεων.</a:t>
            </a:r>
            <a:endParaRPr lang="en-US" sz="1550" dirty="0"/>
          </a:p>
        </p:txBody>
      </p:sp>
      <p:sp>
        <p:nvSpPr>
          <p:cNvPr id="10" name="Shape 7"/>
          <p:cNvSpPr/>
          <p:nvPr/>
        </p:nvSpPr>
        <p:spPr>
          <a:xfrm>
            <a:off x="6190059" y="7339013"/>
            <a:ext cx="321707" cy="321707"/>
          </a:xfrm>
          <a:prstGeom prst="roundRect">
            <a:avLst>
              <a:gd name="adj" fmla="val 28420537"/>
            </a:avLst>
          </a:prstGeom>
          <a:solidFill>
            <a:srgbClr val="9E65DA"/>
          </a:solidFill>
          <a:ln w="7620">
            <a:solidFill>
              <a:srgbClr val="FFFFFF"/>
            </a:solidFill>
            <a:prstDash val="solid"/>
          </a:ln>
        </p:spPr>
      </p:sp>
      <p:sp>
        <p:nvSpPr>
          <p:cNvPr id="11" name="Text 8"/>
          <p:cNvSpPr/>
          <p:nvPr/>
        </p:nvSpPr>
        <p:spPr>
          <a:xfrm>
            <a:off x="6284952" y="7451050"/>
            <a:ext cx="131921" cy="97512"/>
          </a:xfrm>
          <a:prstGeom prst="rect">
            <a:avLst/>
          </a:prstGeom>
          <a:noFill/>
          <a:ln/>
        </p:spPr>
        <p:txBody>
          <a:bodyPr wrap="none" lIns="0" tIns="0" rIns="0" bIns="0" rtlCol="0" anchor="t"/>
          <a:lstStyle/>
          <a:p>
            <a:pPr algn="ctr" indent="0" marL="0">
              <a:lnSpc>
                <a:spcPts val="750"/>
              </a:lnSpc>
              <a:buNone/>
            </a:pPr>
            <a:r>
              <a:rPr lang="en-US" sz="750" dirty="0">
                <a:solidFill>
                  <a:srgbClr val="4D4D51"/>
                </a:solidFill>
                <a:latin typeface="Arimo Medium" pitchFamily="34" charset="0"/>
                <a:ea typeface="Arimo Medium" pitchFamily="34" charset="-122"/>
                <a:cs typeface="Arimo Medium" pitchFamily="34" charset="-120"/>
              </a:rPr>
              <a:t>KP</a:t>
            </a:r>
            <a:endParaRPr lang="en-US" sz="750" dirty="0"/>
          </a:p>
        </p:txBody>
      </p:sp>
      <p:sp>
        <p:nvSpPr>
          <p:cNvPr id="12" name="Text 9"/>
          <p:cNvSpPr/>
          <p:nvPr/>
        </p:nvSpPr>
        <p:spPr>
          <a:xfrm>
            <a:off x="6612255" y="7324011"/>
            <a:ext cx="2449711" cy="351830"/>
          </a:xfrm>
          <a:prstGeom prst="rect">
            <a:avLst/>
          </a:prstGeom>
          <a:noFill/>
          <a:ln/>
        </p:spPr>
        <p:txBody>
          <a:bodyPr wrap="none" lIns="0" tIns="0" rIns="0" bIns="0" rtlCol="0" anchor="t"/>
          <a:lstStyle/>
          <a:p>
            <a:pPr algn="l" indent="0" marL="0">
              <a:lnSpc>
                <a:spcPts val="2750"/>
              </a:lnSpc>
              <a:buNone/>
            </a:pPr>
            <a:r>
              <a:rPr lang="en-US" sz="1950" b="1" dirty="0">
                <a:solidFill>
                  <a:srgbClr val="2A2742"/>
                </a:solidFill>
                <a:latin typeface="Arimo Bold" pitchFamily="34" charset="0"/>
                <a:ea typeface="Arimo Bold" pitchFamily="34" charset="-122"/>
                <a:cs typeface="Arimo Bold" pitchFamily="34" charset="-120"/>
              </a:rPr>
              <a:t>από KORINA PAPPA</a:t>
            </a:r>
            <a:endParaRPr lang="en-US" sz="1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3923824" y="654248"/>
            <a:ext cx="6782753" cy="457200"/>
          </a:xfrm>
          <a:prstGeom prst="rect">
            <a:avLst/>
          </a:prstGeom>
          <a:noFill/>
          <a:ln/>
        </p:spPr>
        <p:txBody>
          <a:bodyPr wrap="none" lIns="0" tIns="0" rIns="0" bIns="0" rtlCol="0" anchor="t"/>
          <a:lstStyle/>
          <a:p>
            <a:pPr algn="ctr" indent="0" marL="0">
              <a:lnSpc>
                <a:spcPts val="3600"/>
              </a:lnSpc>
              <a:buNone/>
            </a:pPr>
            <a:r>
              <a:rPr lang="en-US" sz="2850" b="1" dirty="0">
                <a:solidFill>
                  <a:srgbClr val="231971"/>
                </a:solidFill>
                <a:latin typeface="Outfit Extra Bold" pitchFamily="34" charset="0"/>
                <a:ea typeface="Outfit Extra Bold" pitchFamily="34" charset="-122"/>
                <a:cs typeface="Outfit Extra Bold" pitchFamily="34" charset="-120"/>
              </a:rPr>
              <a:t>Οι τρεις βασικές προτεραιότητες του</a:t>
            </a:r>
            <a:endParaRPr lang="en-US" sz="2850" dirty="0"/>
          </a:p>
        </p:txBody>
      </p:sp>
      <p:sp>
        <p:nvSpPr>
          <p:cNvPr id="3" name="Text 1"/>
          <p:cNvSpPr/>
          <p:nvPr/>
        </p:nvSpPr>
        <p:spPr>
          <a:xfrm>
            <a:off x="4769406" y="1330881"/>
            <a:ext cx="5091470" cy="457200"/>
          </a:xfrm>
          <a:prstGeom prst="rect">
            <a:avLst/>
          </a:prstGeom>
          <a:noFill/>
          <a:ln/>
        </p:spPr>
        <p:txBody>
          <a:bodyPr wrap="none" lIns="0" tIns="0" rIns="0" bIns="0" rtlCol="0" anchor="t"/>
          <a:lstStyle/>
          <a:p>
            <a:pPr algn="ctr" indent="0" marL="0">
              <a:lnSpc>
                <a:spcPts val="3600"/>
              </a:lnSpc>
              <a:buNone/>
            </a:pPr>
            <a:r>
              <a:rPr lang="en-US" sz="2850" b="1" dirty="0">
                <a:solidFill>
                  <a:srgbClr val="231971"/>
                </a:solidFill>
                <a:latin typeface="Outfit Extra Bold" pitchFamily="34" charset="0"/>
                <a:ea typeface="Outfit Extra Bold" pitchFamily="34" charset="-122"/>
                <a:cs typeface="Outfit Extra Bold" pitchFamily="34" charset="-120"/>
              </a:rPr>
              <a:t>Στρατηγικού Θεματολογίου</a:t>
            </a:r>
            <a:endParaRPr lang="en-US" sz="2850" dirty="0"/>
          </a:p>
        </p:txBody>
      </p:sp>
      <p:pic>
        <p:nvPicPr>
          <p:cNvPr id="4" name="Image 0" descr="preencoded.png">    </p:cNvPr>
          <p:cNvPicPr>
            <a:picLocks noChangeAspect="1"/>
          </p:cNvPicPr>
          <p:nvPr/>
        </p:nvPicPr>
        <p:blipFill>
          <a:blip r:embed="rId1"/>
          <a:stretch>
            <a:fillRect/>
          </a:stretch>
        </p:blipFill>
        <p:spPr>
          <a:xfrm>
            <a:off x="2790944" y="2007513"/>
            <a:ext cx="2245043" cy="1698665"/>
          </a:xfrm>
          <a:prstGeom prst="rect">
            <a:avLst/>
          </a:prstGeom>
        </p:spPr>
      </p:pic>
      <p:pic>
        <p:nvPicPr>
          <p:cNvPr id="5" name="Image 1" descr="preencoded.png">    </p:cNvPr>
          <p:cNvPicPr>
            <a:picLocks noChangeAspect="1"/>
          </p:cNvPicPr>
          <p:nvPr/>
        </p:nvPicPr>
        <p:blipFill>
          <a:blip r:embed="rId2"/>
          <a:stretch>
            <a:fillRect/>
          </a:stretch>
        </p:blipFill>
        <p:spPr>
          <a:xfrm>
            <a:off x="3810595" y="2986802"/>
            <a:ext cx="205621" cy="205621"/>
          </a:xfrm>
          <a:prstGeom prst="rect">
            <a:avLst/>
          </a:prstGeom>
        </p:spPr>
      </p:pic>
      <p:sp>
        <p:nvSpPr>
          <p:cNvPr id="6" name="Text 2"/>
          <p:cNvSpPr/>
          <p:nvPr/>
        </p:nvSpPr>
        <p:spPr>
          <a:xfrm>
            <a:off x="5182195" y="2420660"/>
            <a:ext cx="3650933" cy="228600"/>
          </a:xfrm>
          <a:prstGeom prst="rect">
            <a:avLst/>
          </a:prstGeom>
          <a:noFill/>
          <a:ln/>
        </p:spPr>
        <p:txBody>
          <a:bodyPr wrap="none" lIns="0" tIns="0" rIns="0" bIns="0" rtlCol="0" anchor="t"/>
          <a:lstStyle/>
          <a:p>
            <a:pPr algn="l" indent="0" marL="0">
              <a:lnSpc>
                <a:spcPts val="1800"/>
              </a:lnSpc>
              <a:buNone/>
            </a:pPr>
            <a:r>
              <a:rPr lang="en-US" sz="1400" b="1" dirty="0">
                <a:solidFill>
                  <a:srgbClr val="5E4CE6"/>
                </a:solidFill>
                <a:latin typeface="Outfit Extra Bold" pitchFamily="34" charset="0"/>
                <a:ea typeface="Outfit Extra Bold" pitchFamily="34" charset="-122"/>
                <a:cs typeface="Outfit Extra Bold" pitchFamily="34" charset="-120"/>
              </a:rPr>
              <a:t>Μια ελεύθερη και δημοκρατική Ευρώπη</a:t>
            </a:r>
            <a:endParaRPr lang="en-US" sz="1400" dirty="0"/>
          </a:p>
        </p:txBody>
      </p:sp>
      <p:sp>
        <p:nvSpPr>
          <p:cNvPr id="7" name="Text 3"/>
          <p:cNvSpPr/>
          <p:nvPr/>
        </p:nvSpPr>
        <p:spPr>
          <a:xfrm>
            <a:off x="5182195" y="2737009"/>
            <a:ext cx="3650933" cy="234077"/>
          </a:xfrm>
          <a:prstGeom prst="rect">
            <a:avLst/>
          </a:prstGeom>
          <a:noFill/>
          <a:ln/>
        </p:spPr>
        <p:txBody>
          <a:bodyPr wrap="none" lIns="0" tIns="0" rIns="0" bIns="0" rtlCol="0" anchor="t"/>
          <a:lstStyle/>
          <a:p>
            <a:pPr algn="l" indent="0" marL="0">
              <a:lnSpc>
                <a:spcPts val="1800"/>
              </a:lnSpc>
              <a:buNone/>
            </a:pPr>
            <a:r>
              <a:rPr lang="en-US" sz="1150" dirty="0">
                <a:solidFill>
                  <a:srgbClr val="2A2742"/>
                </a:solidFill>
                <a:latin typeface="Arimo" pitchFamily="34" charset="0"/>
                <a:ea typeface="Arimo" pitchFamily="34" charset="-122"/>
                <a:cs typeface="Arimo" pitchFamily="34" charset="-120"/>
              </a:rPr>
              <a:t>Προάσπιση των αξιών εντός και εκτός ΕΕ</a:t>
            </a:r>
            <a:endParaRPr lang="en-US" sz="1150" dirty="0"/>
          </a:p>
        </p:txBody>
      </p:sp>
      <p:sp>
        <p:nvSpPr>
          <p:cNvPr id="8" name="Text 4"/>
          <p:cNvSpPr/>
          <p:nvPr/>
        </p:nvSpPr>
        <p:spPr>
          <a:xfrm>
            <a:off x="5182195" y="3058835"/>
            <a:ext cx="3650933" cy="234077"/>
          </a:xfrm>
          <a:prstGeom prst="rect">
            <a:avLst/>
          </a:prstGeom>
          <a:noFill/>
          <a:ln/>
        </p:spPr>
        <p:txBody>
          <a:bodyPr wrap="none" lIns="0" tIns="0" rIns="0" bIns="0" rtlCol="0" anchor="t"/>
          <a:lstStyle/>
          <a:p>
            <a:pPr algn="l" indent="0" marL="0">
              <a:lnSpc>
                <a:spcPts val="1800"/>
              </a:lnSpc>
              <a:buNone/>
            </a:pPr>
            <a:r>
              <a:rPr lang="en-US" sz="1150" dirty="0">
                <a:solidFill>
                  <a:srgbClr val="2A2742"/>
                </a:solidFill>
                <a:latin typeface="Arimo" pitchFamily="34" charset="0"/>
                <a:ea typeface="Arimo" pitchFamily="34" charset="-122"/>
                <a:cs typeface="Arimo" pitchFamily="34" charset="-120"/>
              </a:rPr>
              <a:t>Τήρηση των αξιών της ΕΕ σε παγκόσμιο επίπεδο</a:t>
            </a:r>
            <a:endParaRPr lang="en-US" sz="1150" dirty="0"/>
          </a:p>
        </p:txBody>
      </p:sp>
      <p:sp>
        <p:nvSpPr>
          <p:cNvPr id="9" name="Shape 5"/>
          <p:cNvSpPr/>
          <p:nvPr/>
        </p:nvSpPr>
        <p:spPr>
          <a:xfrm>
            <a:off x="5072539" y="3720584"/>
            <a:ext cx="9009340" cy="7620"/>
          </a:xfrm>
          <a:prstGeom prst="roundRect">
            <a:avLst>
              <a:gd name="adj" fmla="val 806400"/>
            </a:avLst>
          </a:prstGeom>
          <a:solidFill>
            <a:srgbClr val="BDB8DF"/>
          </a:solidFill>
          <a:ln/>
        </p:spPr>
      </p:sp>
      <p:pic>
        <p:nvPicPr>
          <p:cNvPr id="10" name="Image 2" descr="preencoded.png">    </p:cNvPr>
          <p:cNvPicPr>
            <a:picLocks noChangeAspect="1"/>
          </p:cNvPicPr>
          <p:nvPr/>
        </p:nvPicPr>
        <p:blipFill>
          <a:blip r:embed="rId3"/>
          <a:stretch>
            <a:fillRect/>
          </a:stretch>
        </p:blipFill>
        <p:spPr>
          <a:xfrm>
            <a:off x="1668423" y="3742730"/>
            <a:ext cx="4490085" cy="1698665"/>
          </a:xfrm>
          <a:prstGeom prst="rect">
            <a:avLst/>
          </a:prstGeom>
        </p:spPr>
      </p:pic>
      <p:pic>
        <p:nvPicPr>
          <p:cNvPr id="11" name="Image 3" descr="preencoded.png">    </p:cNvPr>
          <p:cNvPicPr>
            <a:picLocks noChangeAspect="1"/>
          </p:cNvPicPr>
          <p:nvPr/>
        </p:nvPicPr>
        <p:blipFill>
          <a:blip r:embed="rId4"/>
          <a:stretch>
            <a:fillRect/>
          </a:stretch>
        </p:blipFill>
        <p:spPr>
          <a:xfrm>
            <a:off x="3810595" y="4463534"/>
            <a:ext cx="205621" cy="257056"/>
          </a:xfrm>
          <a:prstGeom prst="rect">
            <a:avLst/>
          </a:prstGeom>
        </p:spPr>
      </p:pic>
      <p:sp>
        <p:nvSpPr>
          <p:cNvPr id="12" name="Text 6"/>
          <p:cNvSpPr/>
          <p:nvPr/>
        </p:nvSpPr>
        <p:spPr>
          <a:xfrm>
            <a:off x="6304717" y="3888938"/>
            <a:ext cx="3029307" cy="228600"/>
          </a:xfrm>
          <a:prstGeom prst="rect">
            <a:avLst/>
          </a:prstGeom>
          <a:noFill/>
          <a:ln/>
        </p:spPr>
        <p:txBody>
          <a:bodyPr wrap="none" lIns="0" tIns="0" rIns="0" bIns="0" rtlCol="0" anchor="t"/>
          <a:lstStyle/>
          <a:p>
            <a:pPr algn="l" indent="0" marL="0">
              <a:lnSpc>
                <a:spcPts val="1800"/>
              </a:lnSpc>
              <a:buNone/>
            </a:pPr>
            <a:r>
              <a:rPr lang="en-US" sz="1400" b="1" dirty="0">
                <a:solidFill>
                  <a:srgbClr val="5E4CE6"/>
                </a:solidFill>
                <a:latin typeface="Outfit Extra Bold" pitchFamily="34" charset="0"/>
                <a:ea typeface="Outfit Extra Bold" pitchFamily="34" charset="-122"/>
                <a:cs typeface="Outfit Extra Bold" pitchFamily="34" charset="-120"/>
              </a:rPr>
              <a:t>Μια ισχυρή και ασφαλής Ευρώπη</a:t>
            </a:r>
            <a:endParaRPr lang="en-US" sz="1400" dirty="0"/>
          </a:p>
        </p:txBody>
      </p:sp>
      <p:sp>
        <p:nvSpPr>
          <p:cNvPr id="13" name="Text 7"/>
          <p:cNvSpPr/>
          <p:nvPr/>
        </p:nvSpPr>
        <p:spPr>
          <a:xfrm>
            <a:off x="6304717" y="4205288"/>
            <a:ext cx="6151483" cy="234077"/>
          </a:xfrm>
          <a:prstGeom prst="rect">
            <a:avLst/>
          </a:prstGeom>
          <a:noFill/>
          <a:ln/>
        </p:spPr>
        <p:txBody>
          <a:bodyPr wrap="none" lIns="0" tIns="0" rIns="0" bIns="0" rtlCol="0" anchor="t"/>
          <a:lstStyle/>
          <a:p>
            <a:pPr algn="l" marL="342900" indent="-342900">
              <a:lnSpc>
                <a:spcPts val="1800"/>
              </a:lnSpc>
              <a:buSzPct val="100000"/>
              <a:buChar char="•"/>
            </a:pPr>
            <a:r>
              <a:rPr lang="en-US" sz="1150" dirty="0">
                <a:solidFill>
                  <a:srgbClr val="2A2742"/>
                </a:solidFill>
                <a:latin typeface="Arimo" pitchFamily="34" charset="0"/>
                <a:ea typeface="Arimo" pitchFamily="34" charset="-122"/>
                <a:cs typeface="Arimo" pitchFamily="34" charset="-120"/>
              </a:rPr>
              <a:t>ενίσχυση της ασφάλειας και της άμυνας της ΕΕ και προστασία των πολιτών της ΕΕ</a:t>
            </a:r>
            <a:endParaRPr lang="en-US" sz="1150" dirty="0"/>
          </a:p>
        </p:txBody>
      </p:sp>
      <p:sp>
        <p:nvSpPr>
          <p:cNvPr id="14" name="Text 8"/>
          <p:cNvSpPr/>
          <p:nvPr/>
        </p:nvSpPr>
        <p:spPr>
          <a:xfrm>
            <a:off x="6304717" y="4490561"/>
            <a:ext cx="6151483" cy="234077"/>
          </a:xfrm>
          <a:prstGeom prst="rect">
            <a:avLst/>
          </a:prstGeom>
          <a:noFill/>
          <a:ln/>
        </p:spPr>
        <p:txBody>
          <a:bodyPr wrap="none" lIns="0" tIns="0" rIns="0" bIns="0" rtlCol="0" anchor="t"/>
          <a:lstStyle/>
          <a:p>
            <a:pPr algn="l" marL="342900" indent="-342900">
              <a:lnSpc>
                <a:spcPts val="1800"/>
              </a:lnSpc>
              <a:buSzPct val="100000"/>
              <a:buChar char="•"/>
            </a:pPr>
            <a:r>
              <a:rPr lang="en-US" sz="1150" dirty="0">
                <a:solidFill>
                  <a:srgbClr val="2A2742"/>
                </a:solidFill>
                <a:latin typeface="Arimo" pitchFamily="34" charset="0"/>
                <a:ea typeface="Arimo" pitchFamily="34" charset="-122"/>
                <a:cs typeface="Arimo" pitchFamily="34" charset="-120"/>
              </a:rPr>
              <a:t>διασφάλιση συνεκτικής και σημαντικής εξωτερικής δράσης</a:t>
            </a:r>
            <a:endParaRPr lang="en-US" sz="1150" dirty="0"/>
          </a:p>
        </p:txBody>
      </p:sp>
      <p:sp>
        <p:nvSpPr>
          <p:cNvPr id="15" name="Text 9"/>
          <p:cNvSpPr/>
          <p:nvPr/>
        </p:nvSpPr>
        <p:spPr>
          <a:xfrm>
            <a:off x="6304717" y="4775835"/>
            <a:ext cx="6151483" cy="234077"/>
          </a:xfrm>
          <a:prstGeom prst="rect">
            <a:avLst/>
          </a:prstGeom>
          <a:noFill/>
          <a:ln/>
        </p:spPr>
        <p:txBody>
          <a:bodyPr wrap="none" lIns="0" tIns="0" rIns="0" bIns="0" rtlCol="0" anchor="t"/>
          <a:lstStyle/>
          <a:p>
            <a:pPr algn="l" marL="342900" indent="-342900">
              <a:lnSpc>
                <a:spcPts val="1800"/>
              </a:lnSpc>
              <a:buSzPct val="100000"/>
              <a:buChar char="•"/>
            </a:pPr>
            <a:r>
              <a:rPr lang="en-US" sz="1150" dirty="0">
                <a:solidFill>
                  <a:srgbClr val="2A2742"/>
                </a:solidFill>
                <a:latin typeface="Arimo" pitchFamily="34" charset="0"/>
                <a:ea typeface="Arimo" pitchFamily="34" charset="-122"/>
                <a:cs typeface="Arimo" pitchFamily="34" charset="-120"/>
              </a:rPr>
              <a:t>προετοιμασία για μια μεγαλύτερη και ισχυρότερη Ένωση</a:t>
            </a:r>
            <a:endParaRPr lang="en-US" sz="1150" dirty="0"/>
          </a:p>
        </p:txBody>
      </p:sp>
      <p:sp>
        <p:nvSpPr>
          <p:cNvPr id="16" name="Text 10"/>
          <p:cNvSpPr/>
          <p:nvPr/>
        </p:nvSpPr>
        <p:spPr>
          <a:xfrm>
            <a:off x="6304717" y="5061109"/>
            <a:ext cx="6151483" cy="234077"/>
          </a:xfrm>
          <a:prstGeom prst="rect">
            <a:avLst/>
          </a:prstGeom>
          <a:noFill/>
          <a:ln/>
        </p:spPr>
        <p:txBody>
          <a:bodyPr wrap="none" lIns="0" tIns="0" rIns="0" bIns="0" rtlCol="0" anchor="t"/>
          <a:lstStyle/>
          <a:p>
            <a:pPr algn="l" marL="342900" indent="-342900">
              <a:lnSpc>
                <a:spcPts val="1800"/>
              </a:lnSpc>
              <a:buSzPct val="100000"/>
              <a:buChar char="•"/>
            </a:pPr>
            <a:r>
              <a:rPr lang="en-US" sz="1150" dirty="0">
                <a:solidFill>
                  <a:srgbClr val="2A2742"/>
                </a:solidFill>
                <a:latin typeface="Arimo" pitchFamily="34" charset="0"/>
                <a:ea typeface="Arimo" pitchFamily="34" charset="-122"/>
                <a:cs typeface="Arimo" pitchFamily="34" charset="-120"/>
              </a:rPr>
              <a:t>επιδίωξη ολοκληρωμένης προσέγγισης για τη μετανάστευση και τη διαχείριση των συνόρων</a:t>
            </a:r>
            <a:endParaRPr lang="en-US" sz="1150" dirty="0"/>
          </a:p>
        </p:txBody>
      </p:sp>
      <p:sp>
        <p:nvSpPr>
          <p:cNvPr id="17" name="Shape 11"/>
          <p:cNvSpPr/>
          <p:nvPr/>
        </p:nvSpPr>
        <p:spPr>
          <a:xfrm>
            <a:off x="6195060" y="5455801"/>
            <a:ext cx="7886819" cy="7620"/>
          </a:xfrm>
          <a:prstGeom prst="roundRect">
            <a:avLst>
              <a:gd name="adj" fmla="val 806400"/>
            </a:avLst>
          </a:prstGeom>
          <a:solidFill>
            <a:srgbClr val="BDB8DF"/>
          </a:solidFill>
          <a:ln/>
        </p:spPr>
      </p:sp>
      <p:pic>
        <p:nvPicPr>
          <p:cNvPr id="18" name="Image 4" descr="preencoded.png">    </p:cNvPr>
          <p:cNvPicPr>
            <a:picLocks noChangeAspect="1"/>
          </p:cNvPicPr>
          <p:nvPr/>
        </p:nvPicPr>
        <p:blipFill>
          <a:blip r:embed="rId5"/>
          <a:stretch>
            <a:fillRect/>
          </a:stretch>
        </p:blipFill>
        <p:spPr>
          <a:xfrm>
            <a:off x="545902" y="5477947"/>
            <a:ext cx="6735128" cy="1698665"/>
          </a:xfrm>
          <a:prstGeom prst="rect">
            <a:avLst/>
          </a:prstGeom>
        </p:spPr>
      </p:pic>
      <p:pic>
        <p:nvPicPr>
          <p:cNvPr id="19" name="Image 5" descr="preencoded.png">    </p:cNvPr>
          <p:cNvPicPr>
            <a:picLocks noChangeAspect="1"/>
          </p:cNvPicPr>
          <p:nvPr/>
        </p:nvPicPr>
        <p:blipFill>
          <a:blip r:embed="rId6"/>
          <a:stretch>
            <a:fillRect/>
          </a:stretch>
        </p:blipFill>
        <p:spPr>
          <a:xfrm>
            <a:off x="3810595" y="6198751"/>
            <a:ext cx="205621" cy="257056"/>
          </a:xfrm>
          <a:prstGeom prst="rect">
            <a:avLst/>
          </a:prstGeom>
        </p:spPr>
      </p:pic>
      <p:sp>
        <p:nvSpPr>
          <p:cNvPr id="20" name="Text 12"/>
          <p:cNvSpPr/>
          <p:nvPr/>
        </p:nvSpPr>
        <p:spPr>
          <a:xfrm>
            <a:off x="7427238" y="5624155"/>
            <a:ext cx="4109323" cy="228600"/>
          </a:xfrm>
          <a:prstGeom prst="rect">
            <a:avLst/>
          </a:prstGeom>
          <a:noFill/>
          <a:ln/>
        </p:spPr>
        <p:txBody>
          <a:bodyPr wrap="none" lIns="0" tIns="0" rIns="0" bIns="0" rtlCol="0" anchor="t"/>
          <a:lstStyle/>
          <a:p>
            <a:pPr algn="l" indent="0" marL="0">
              <a:lnSpc>
                <a:spcPts val="1800"/>
              </a:lnSpc>
              <a:buNone/>
            </a:pPr>
            <a:r>
              <a:rPr lang="en-US" sz="1400" b="1" dirty="0">
                <a:solidFill>
                  <a:srgbClr val="5E4CE6"/>
                </a:solidFill>
                <a:latin typeface="Outfit Extra Bold" pitchFamily="34" charset="0"/>
                <a:ea typeface="Outfit Extra Bold" pitchFamily="34" charset="-122"/>
                <a:cs typeface="Outfit Extra Bold" pitchFamily="34" charset="-120"/>
              </a:rPr>
              <a:t>Μια ευημερούσα και ανταγωνιστική Ευρώπη</a:t>
            </a:r>
            <a:endParaRPr lang="en-US" sz="1400" dirty="0"/>
          </a:p>
        </p:txBody>
      </p:sp>
      <p:sp>
        <p:nvSpPr>
          <p:cNvPr id="21" name="Text 13"/>
          <p:cNvSpPr/>
          <p:nvPr/>
        </p:nvSpPr>
        <p:spPr>
          <a:xfrm>
            <a:off x="7427238" y="5940504"/>
            <a:ext cx="5066109" cy="234077"/>
          </a:xfrm>
          <a:prstGeom prst="rect">
            <a:avLst/>
          </a:prstGeom>
          <a:noFill/>
          <a:ln/>
        </p:spPr>
        <p:txBody>
          <a:bodyPr wrap="none" lIns="0" tIns="0" rIns="0" bIns="0" rtlCol="0" anchor="t"/>
          <a:lstStyle/>
          <a:p>
            <a:pPr algn="l" marL="342900" indent="-342900">
              <a:lnSpc>
                <a:spcPts val="1800"/>
              </a:lnSpc>
              <a:buSzPct val="100000"/>
              <a:buChar char="•"/>
            </a:pPr>
            <a:r>
              <a:rPr lang="en-US" sz="1150" dirty="0">
                <a:solidFill>
                  <a:srgbClr val="2A2742"/>
                </a:solidFill>
                <a:latin typeface="Arimo" pitchFamily="34" charset="0"/>
                <a:ea typeface="Arimo" pitchFamily="34" charset="-122"/>
                <a:cs typeface="Arimo" pitchFamily="34" charset="-120"/>
              </a:rPr>
              <a:t>ενίσχυση της ανταγωνιστικότητας της ΕΕ</a:t>
            </a:r>
            <a:endParaRPr lang="en-US" sz="1150" dirty="0"/>
          </a:p>
        </p:txBody>
      </p:sp>
      <p:sp>
        <p:nvSpPr>
          <p:cNvPr id="22" name="Text 14"/>
          <p:cNvSpPr/>
          <p:nvPr/>
        </p:nvSpPr>
        <p:spPr>
          <a:xfrm>
            <a:off x="7427238" y="6225778"/>
            <a:ext cx="5066109" cy="234077"/>
          </a:xfrm>
          <a:prstGeom prst="rect">
            <a:avLst/>
          </a:prstGeom>
          <a:noFill/>
          <a:ln/>
        </p:spPr>
        <p:txBody>
          <a:bodyPr wrap="none" lIns="0" tIns="0" rIns="0" bIns="0" rtlCol="0" anchor="t"/>
          <a:lstStyle/>
          <a:p>
            <a:pPr algn="l" marL="342900" indent="-342900">
              <a:lnSpc>
                <a:spcPts val="1800"/>
              </a:lnSpc>
              <a:buSzPct val="100000"/>
              <a:buChar char="•"/>
            </a:pPr>
            <a:r>
              <a:rPr lang="en-US" sz="1150" dirty="0">
                <a:solidFill>
                  <a:srgbClr val="2A2742"/>
                </a:solidFill>
                <a:latin typeface="Arimo" pitchFamily="34" charset="0"/>
                <a:ea typeface="Arimo" pitchFamily="34" charset="-122"/>
                <a:cs typeface="Arimo" pitchFamily="34" charset="-120"/>
              </a:rPr>
              <a:t>της επιτυχίας της πράσινης και ψηφιακής μετάβασης</a:t>
            </a:r>
            <a:endParaRPr lang="en-US" sz="1150" dirty="0"/>
          </a:p>
        </p:txBody>
      </p:sp>
      <p:sp>
        <p:nvSpPr>
          <p:cNvPr id="23" name="Text 15"/>
          <p:cNvSpPr/>
          <p:nvPr/>
        </p:nvSpPr>
        <p:spPr>
          <a:xfrm>
            <a:off x="7427238" y="6511052"/>
            <a:ext cx="5066109" cy="234077"/>
          </a:xfrm>
          <a:prstGeom prst="rect">
            <a:avLst/>
          </a:prstGeom>
          <a:noFill/>
          <a:ln/>
        </p:spPr>
        <p:txBody>
          <a:bodyPr wrap="none" lIns="0" tIns="0" rIns="0" bIns="0" rtlCol="0" anchor="t"/>
          <a:lstStyle/>
          <a:p>
            <a:pPr algn="l" marL="342900" indent="-342900">
              <a:lnSpc>
                <a:spcPts val="1800"/>
              </a:lnSpc>
              <a:buSzPct val="100000"/>
              <a:buChar char="•"/>
            </a:pPr>
            <a:r>
              <a:rPr lang="en-US" sz="1150" dirty="0">
                <a:solidFill>
                  <a:srgbClr val="2A2742"/>
                </a:solidFill>
                <a:latin typeface="Arimo" pitchFamily="34" charset="0"/>
                <a:ea typeface="Arimo" pitchFamily="34" charset="-122"/>
                <a:cs typeface="Arimo" pitchFamily="34" charset="-120"/>
              </a:rPr>
              <a:t>προώθηση φιλικού προς την καινοτομία και τις επιχειρήσεις περιβάλλοντος</a:t>
            </a:r>
            <a:endParaRPr lang="en-US" sz="1150" dirty="0"/>
          </a:p>
        </p:txBody>
      </p:sp>
      <p:sp>
        <p:nvSpPr>
          <p:cNvPr id="24" name="Text 16"/>
          <p:cNvSpPr/>
          <p:nvPr/>
        </p:nvSpPr>
        <p:spPr>
          <a:xfrm>
            <a:off x="7427238" y="6796326"/>
            <a:ext cx="5066109" cy="234077"/>
          </a:xfrm>
          <a:prstGeom prst="rect">
            <a:avLst/>
          </a:prstGeom>
          <a:noFill/>
          <a:ln/>
        </p:spPr>
        <p:txBody>
          <a:bodyPr wrap="none" lIns="0" tIns="0" rIns="0" bIns="0" rtlCol="0" anchor="t"/>
          <a:lstStyle/>
          <a:p>
            <a:pPr algn="l" marL="342900" indent="-342900">
              <a:lnSpc>
                <a:spcPts val="1800"/>
              </a:lnSpc>
              <a:buSzPct val="100000"/>
              <a:buChar char="•"/>
            </a:pPr>
            <a:r>
              <a:rPr lang="en-US" sz="1150" dirty="0">
                <a:solidFill>
                  <a:srgbClr val="2A2742"/>
                </a:solidFill>
                <a:latin typeface="Arimo" pitchFamily="34" charset="0"/>
                <a:ea typeface="Arimo" pitchFamily="34" charset="-122"/>
                <a:cs typeface="Arimo" pitchFamily="34" charset="-120"/>
              </a:rPr>
              <a:t>συμπόρευση.</a:t>
            </a:r>
            <a:endParaRPr lang="en-US" sz="1150" dirty="0"/>
          </a:p>
        </p:txBody>
      </p:sp>
      <p:sp>
        <p:nvSpPr>
          <p:cNvPr id="25" name="Text 17"/>
          <p:cNvSpPr/>
          <p:nvPr/>
        </p:nvSpPr>
        <p:spPr>
          <a:xfrm>
            <a:off x="511969" y="7341156"/>
            <a:ext cx="13606462" cy="234077"/>
          </a:xfrm>
          <a:prstGeom prst="rect">
            <a:avLst/>
          </a:prstGeom>
          <a:noFill/>
          <a:ln/>
        </p:spPr>
        <p:txBody>
          <a:bodyPr wrap="none" lIns="0" tIns="0" rIns="0" bIns="0" rtlCol="0" anchor="t"/>
          <a:lstStyle/>
          <a:p>
            <a:pPr algn="l" indent="0" marL="0">
              <a:lnSpc>
                <a:spcPts val="1800"/>
              </a:lnSpc>
              <a:buNone/>
            </a:pP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2599968" y="797838"/>
            <a:ext cx="9430464" cy="588288"/>
          </a:xfrm>
          <a:prstGeom prst="rect">
            <a:avLst/>
          </a:prstGeom>
          <a:noFill/>
          <a:ln/>
        </p:spPr>
        <p:txBody>
          <a:bodyPr wrap="none" lIns="0" tIns="0" rIns="0" bIns="0" rtlCol="0" anchor="t"/>
          <a:lstStyle/>
          <a:p>
            <a:pPr algn="ctr" indent="0" marL="0">
              <a:lnSpc>
                <a:spcPts val="4600"/>
              </a:lnSpc>
              <a:buNone/>
            </a:pPr>
            <a:r>
              <a:rPr lang="en-US" sz="3700" b="1" i="1" dirty="0">
                <a:solidFill>
                  <a:srgbClr val="231971"/>
                </a:solidFill>
                <a:latin typeface="Outfit Extra Bold" pitchFamily="34" charset="0"/>
                <a:ea typeface="Outfit Extra Bold" pitchFamily="34" charset="-122"/>
                <a:cs typeface="Outfit Extra Bold" pitchFamily="34" charset="-120"/>
              </a:rPr>
              <a:t>Προτεραιότητες της Επιτροπής 2024-2029</a:t>
            </a:r>
            <a:endParaRPr lang="en-US" sz="3700" dirty="0"/>
          </a:p>
        </p:txBody>
      </p:sp>
      <p:sp>
        <p:nvSpPr>
          <p:cNvPr id="3" name="Shape 1"/>
          <p:cNvSpPr/>
          <p:nvPr/>
        </p:nvSpPr>
        <p:spPr>
          <a:xfrm>
            <a:off x="658773" y="1974294"/>
            <a:ext cx="423505" cy="423505"/>
          </a:xfrm>
          <a:prstGeom prst="roundRect">
            <a:avLst>
              <a:gd name="adj" fmla="val 18668"/>
            </a:avLst>
          </a:prstGeom>
          <a:solidFill>
            <a:srgbClr val="E9E6FA"/>
          </a:solidFill>
          <a:ln w="7620">
            <a:solidFill>
              <a:srgbClr val="BDB8DF"/>
            </a:solidFill>
            <a:prstDash val="solid"/>
          </a:ln>
        </p:spPr>
      </p:sp>
      <p:pic>
        <p:nvPicPr>
          <p:cNvPr id="4" name="Image 0" descr="preencoded.png">    </p:cNvPr>
          <p:cNvPicPr>
            <a:picLocks noChangeAspect="1"/>
          </p:cNvPicPr>
          <p:nvPr/>
        </p:nvPicPr>
        <p:blipFill>
          <a:blip r:embed="rId1"/>
          <a:stretch>
            <a:fillRect/>
          </a:stretch>
        </p:blipFill>
        <p:spPr>
          <a:xfrm>
            <a:off x="729317" y="2009537"/>
            <a:ext cx="282297" cy="352901"/>
          </a:xfrm>
          <a:prstGeom prst="rect">
            <a:avLst/>
          </a:prstGeom>
        </p:spPr>
      </p:pic>
      <p:sp>
        <p:nvSpPr>
          <p:cNvPr id="5" name="Text 2"/>
          <p:cNvSpPr/>
          <p:nvPr/>
        </p:nvSpPr>
        <p:spPr>
          <a:xfrm>
            <a:off x="1270516" y="1974294"/>
            <a:ext cx="3700343" cy="588169"/>
          </a:xfrm>
          <a:prstGeom prst="rect">
            <a:avLst/>
          </a:prstGeom>
          <a:noFill/>
          <a:ln/>
        </p:spPr>
        <p:txBody>
          <a:bodyPr wrap="square" lIns="0" tIns="0" rIns="0" bIns="0" rtlCol="0" anchor="t"/>
          <a:lstStyle/>
          <a:p>
            <a:pPr algn="l" indent="0" marL="0">
              <a:lnSpc>
                <a:spcPts val="2300"/>
              </a:lnSpc>
              <a:buNone/>
            </a:pPr>
            <a:r>
              <a:rPr lang="en-US" sz="1850" b="1" i="1" dirty="0">
                <a:solidFill>
                  <a:srgbClr val="2A2742"/>
                </a:solidFill>
                <a:latin typeface="Outfit Extra Bold" pitchFamily="34" charset="0"/>
                <a:ea typeface="Outfit Extra Bold" pitchFamily="34" charset="-122"/>
                <a:cs typeface="Outfit Extra Bold" pitchFamily="34" charset="-120"/>
              </a:rPr>
              <a:t>Ένα νέο σχέδιο για την βιώσιμη ευημερία και ανταγωνιστικότητα</a:t>
            </a:r>
            <a:endParaRPr lang="en-US" sz="1850" dirty="0"/>
          </a:p>
        </p:txBody>
      </p:sp>
      <p:sp>
        <p:nvSpPr>
          <p:cNvPr id="6" name="Text 3"/>
          <p:cNvSpPr/>
          <p:nvPr/>
        </p:nvSpPr>
        <p:spPr>
          <a:xfrm>
            <a:off x="1270516" y="2675334"/>
            <a:ext cx="3700343" cy="903327"/>
          </a:xfrm>
          <a:prstGeom prst="rect">
            <a:avLst/>
          </a:prstGeom>
          <a:noFill/>
          <a:ln/>
        </p:spPr>
        <p:txBody>
          <a:bodyPr wrap="square" lIns="0" tIns="0" rIns="0" bIns="0" rtlCol="0" anchor="t"/>
          <a:lstStyle/>
          <a:p>
            <a:pPr algn="l" marL="342900" indent="-342900">
              <a:lnSpc>
                <a:spcPts val="2350"/>
              </a:lnSpc>
              <a:buSzPct val="100000"/>
              <a:buChar char="•"/>
            </a:pPr>
            <a:r>
              <a:rPr lang="en-US" sz="1450" dirty="0">
                <a:solidFill>
                  <a:srgbClr val="2A2742"/>
                </a:solidFill>
                <a:latin typeface="Arimo" pitchFamily="34" charset="0"/>
                <a:ea typeface="Arimo" pitchFamily="34" charset="-122"/>
                <a:cs typeface="Arimo" pitchFamily="34" charset="-120"/>
              </a:rPr>
              <a:t>Διευκόλυνση των επιχειρήσεων με σκοπό την προώθηση της οικονομικής ανάπτυξης</a:t>
            </a:r>
            <a:endParaRPr lang="en-US" sz="1450" dirty="0"/>
          </a:p>
        </p:txBody>
      </p:sp>
      <p:sp>
        <p:nvSpPr>
          <p:cNvPr id="7" name="Text 4"/>
          <p:cNvSpPr/>
          <p:nvPr/>
        </p:nvSpPr>
        <p:spPr>
          <a:xfrm>
            <a:off x="1270516" y="3644503"/>
            <a:ext cx="3700343" cy="602218"/>
          </a:xfrm>
          <a:prstGeom prst="rect">
            <a:avLst/>
          </a:prstGeom>
          <a:noFill/>
          <a:ln/>
        </p:spPr>
        <p:txBody>
          <a:bodyPr wrap="square" lIns="0" tIns="0" rIns="0" bIns="0" rtlCol="0" anchor="t"/>
          <a:lstStyle/>
          <a:p>
            <a:pPr algn="l" marL="342900" indent="-342900">
              <a:lnSpc>
                <a:spcPts val="2350"/>
              </a:lnSpc>
              <a:buSzPct val="100000"/>
              <a:buChar char="•"/>
            </a:pPr>
            <a:r>
              <a:rPr lang="en-US" sz="1450" dirty="0">
                <a:solidFill>
                  <a:srgbClr val="2A2742"/>
                </a:solidFill>
                <a:latin typeface="Arimo" pitchFamily="34" charset="0"/>
                <a:ea typeface="Arimo" pitchFamily="34" charset="-122"/>
                <a:cs typeface="Arimo" pitchFamily="34" charset="-120"/>
              </a:rPr>
              <a:t>Στήριξη των ανταγωνιστικών βιομηχανιών της ΕΕ</a:t>
            </a:r>
            <a:endParaRPr lang="en-US" sz="1450" dirty="0"/>
          </a:p>
        </p:txBody>
      </p:sp>
      <p:sp>
        <p:nvSpPr>
          <p:cNvPr id="8" name="Text 5"/>
          <p:cNvSpPr/>
          <p:nvPr/>
        </p:nvSpPr>
        <p:spPr>
          <a:xfrm>
            <a:off x="1270516" y="4312563"/>
            <a:ext cx="3700343" cy="301109"/>
          </a:xfrm>
          <a:prstGeom prst="rect">
            <a:avLst/>
          </a:prstGeom>
          <a:noFill/>
          <a:ln/>
        </p:spPr>
        <p:txBody>
          <a:bodyPr wrap="none" lIns="0" tIns="0" rIns="0" bIns="0" rtlCol="0" anchor="t"/>
          <a:lstStyle/>
          <a:p>
            <a:pPr algn="l" marL="342900" indent="-342900">
              <a:lnSpc>
                <a:spcPts val="2350"/>
              </a:lnSpc>
              <a:buSzPct val="100000"/>
              <a:buChar char="•"/>
            </a:pPr>
            <a:r>
              <a:rPr lang="en-US" sz="1450" dirty="0">
                <a:solidFill>
                  <a:srgbClr val="2A2742"/>
                </a:solidFill>
                <a:latin typeface="Arimo" pitchFamily="34" charset="0"/>
                <a:ea typeface="Arimo" pitchFamily="34" charset="-122"/>
                <a:cs typeface="Arimo" pitchFamily="34" charset="-120"/>
              </a:rPr>
              <a:t>Δημιουργία ποιοτικών θέσεων εργασίας</a:t>
            </a:r>
            <a:endParaRPr lang="en-US" sz="1450" dirty="0"/>
          </a:p>
        </p:txBody>
      </p:sp>
      <p:sp>
        <p:nvSpPr>
          <p:cNvPr id="9" name="Text 6"/>
          <p:cNvSpPr/>
          <p:nvPr/>
        </p:nvSpPr>
        <p:spPr>
          <a:xfrm>
            <a:off x="1270516" y="4679513"/>
            <a:ext cx="3700343" cy="602218"/>
          </a:xfrm>
          <a:prstGeom prst="rect">
            <a:avLst/>
          </a:prstGeom>
          <a:noFill/>
          <a:ln/>
        </p:spPr>
        <p:txBody>
          <a:bodyPr wrap="square" lIns="0" tIns="0" rIns="0" bIns="0" rtlCol="0" anchor="t"/>
          <a:lstStyle/>
          <a:p>
            <a:pPr algn="l" marL="342900" indent="-342900">
              <a:lnSpc>
                <a:spcPts val="2350"/>
              </a:lnSpc>
              <a:buSzPct val="100000"/>
              <a:buChar char="•"/>
            </a:pPr>
            <a:r>
              <a:rPr lang="en-US" sz="1450" dirty="0">
                <a:solidFill>
                  <a:srgbClr val="2A2742"/>
                </a:solidFill>
                <a:latin typeface="Arimo" pitchFamily="34" charset="0"/>
                <a:ea typeface="Arimo" pitchFamily="34" charset="-122"/>
                <a:cs typeface="Arimo" pitchFamily="34" charset="-120"/>
              </a:rPr>
              <a:t>Ανάπτυξη μιας κυκλικής και ανθεκτικής οικονομίας</a:t>
            </a:r>
            <a:endParaRPr lang="en-US" sz="1450" dirty="0"/>
          </a:p>
        </p:txBody>
      </p:sp>
      <p:sp>
        <p:nvSpPr>
          <p:cNvPr id="10" name="Text 7"/>
          <p:cNvSpPr/>
          <p:nvPr/>
        </p:nvSpPr>
        <p:spPr>
          <a:xfrm>
            <a:off x="1270516" y="5347573"/>
            <a:ext cx="3700343" cy="602218"/>
          </a:xfrm>
          <a:prstGeom prst="rect">
            <a:avLst/>
          </a:prstGeom>
          <a:noFill/>
          <a:ln/>
        </p:spPr>
        <p:txBody>
          <a:bodyPr wrap="square" lIns="0" tIns="0" rIns="0" bIns="0" rtlCol="0" anchor="t"/>
          <a:lstStyle/>
          <a:p>
            <a:pPr algn="l" marL="342900" indent="-342900">
              <a:lnSpc>
                <a:spcPts val="2350"/>
              </a:lnSpc>
              <a:buSzPct val="100000"/>
              <a:buChar char="•"/>
            </a:pPr>
            <a:r>
              <a:rPr lang="en-US" sz="1450" dirty="0">
                <a:solidFill>
                  <a:srgbClr val="2A2742"/>
                </a:solidFill>
                <a:latin typeface="Arimo" pitchFamily="34" charset="0"/>
                <a:ea typeface="Arimo" pitchFamily="34" charset="-122"/>
                <a:cs typeface="Arimo" pitchFamily="34" charset="-120"/>
              </a:rPr>
              <a:t>Αντιμετώπιση του χάσματος δεξιοτήτων και εργατικού δυναμικού</a:t>
            </a:r>
            <a:endParaRPr lang="en-US" sz="1450" dirty="0"/>
          </a:p>
        </p:txBody>
      </p:sp>
      <p:sp>
        <p:nvSpPr>
          <p:cNvPr id="11" name="Text 8"/>
          <p:cNvSpPr/>
          <p:nvPr/>
        </p:nvSpPr>
        <p:spPr>
          <a:xfrm>
            <a:off x="1270516" y="6015633"/>
            <a:ext cx="3700343" cy="903327"/>
          </a:xfrm>
          <a:prstGeom prst="rect">
            <a:avLst/>
          </a:prstGeom>
          <a:noFill/>
          <a:ln/>
        </p:spPr>
        <p:txBody>
          <a:bodyPr wrap="square" lIns="0" tIns="0" rIns="0" bIns="0" rtlCol="0" anchor="t"/>
          <a:lstStyle/>
          <a:p>
            <a:pPr algn="l" marL="342900" indent="-342900">
              <a:lnSpc>
                <a:spcPts val="2350"/>
              </a:lnSpc>
              <a:buSzPct val="100000"/>
              <a:buChar char="•"/>
            </a:pPr>
            <a:r>
              <a:rPr lang="en-US" sz="1450" dirty="0">
                <a:solidFill>
                  <a:srgbClr val="2A2742"/>
                </a:solidFill>
                <a:latin typeface="Arimo" pitchFamily="34" charset="0"/>
                <a:ea typeface="Arimo" pitchFamily="34" charset="-122"/>
                <a:cs typeface="Arimo" pitchFamily="34" charset="-120"/>
              </a:rPr>
              <a:t>Ανάληψη ηγετικού ρόλου όσον αφορά την καινοτομία στον τομέα της ψηφιακής τεχνολογίας.</a:t>
            </a:r>
            <a:endParaRPr lang="en-US" sz="1450" dirty="0"/>
          </a:p>
        </p:txBody>
      </p:sp>
      <p:sp>
        <p:nvSpPr>
          <p:cNvPr id="12" name="Shape 9"/>
          <p:cNvSpPr/>
          <p:nvPr/>
        </p:nvSpPr>
        <p:spPr>
          <a:xfrm>
            <a:off x="5159097" y="1974294"/>
            <a:ext cx="423505" cy="423505"/>
          </a:xfrm>
          <a:prstGeom prst="roundRect">
            <a:avLst>
              <a:gd name="adj" fmla="val 18668"/>
            </a:avLst>
          </a:prstGeom>
          <a:solidFill>
            <a:srgbClr val="E9E6FA"/>
          </a:solidFill>
          <a:ln w="7620">
            <a:solidFill>
              <a:srgbClr val="BDB8DF"/>
            </a:solidFill>
            <a:prstDash val="solid"/>
          </a:ln>
        </p:spPr>
      </p:sp>
      <p:pic>
        <p:nvPicPr>
          <p:cNvPr id="13" name="Image 1" descr="preencoded.png">    </p:cNvPr>
          <p:cNvPicPr>
            <a:picLocks noChangeAspect="1"/>
          </p:cNvPicPr>
          <p:nvPr/>
        </p:nvPicPr>
        <p:blipFill>
          <a:blip r:embed="rId2"/>
          <a:stretch>
            <a:fillRect/>
          </a:stretch>
        </p:blipFill>
        <p:spPr>
          <a:xfrm>
            <a:off x="5229642" y="2009537"/>
            <a:ext cx="282297" cy="352901"/>
          </a:xfrm>
          <a:prstGeom prst="rect">
            <a:avLst/>
          </a:prstGeom>
        </p:spPr>
      </p:pic>
      <p:sp>
        <p:nvSpPr>
          <p:cNvPr id="14" name="Text 10"/>
          <p:cNvSpPr/>
          <p:nvPr/>
        </p:nvSpPr>
        <p:spPr>
          <a:xfrm>
            <a:off x="5770840" y="1974294"/>
            <a:ext cx="3700343" cy="588169"/>
          </a:xfrm>
          <a:prstGeom prst="rect">
            <a:avLst/>
          </a:prstGeom>
          <a:noFill/>
          <a:ln/>
        </p:spPr>
        <p:txBody>
          <a:bodyPr wrap="square" lIns="0" tIns="0" rIns="0" bIns="0" rtlCol="0" anchor="t"/>
          <a:lstStyle/>
          <a:p>
            <a:pPr algn="l" indent="0" marL="0">
              <a:lnSpc>
                <a:spcPts val="2300"/>
              </a:lnSpc>
              <a:buNone/>
            </a:pPr>
            <a:r>
              <a:rPr lang="en-US" sz="1850" b="1" i="1" dirty="0">
                <a:solidFill>
                  <a:srgbClr val="2A2742"/>
                </a:solidFill>
                <a:latin typeface="Outfit Extra Bold" pitchFamily="34" charset="0"/>
                <a:ea typeface="Outfit Extra Bold" pitchFamily="34" charset="-122"/>
                <a:cs typeface="Outfit Extra Bold" pitchFamily="34" charset="-120"/>
              </a:rPr>
              <a:t>Μια νέα εποχή για την ευρωπαϊκή άμυνα και ασφάλεια</a:t>
            </a:r>
            <a:endParaRPr lang="en-US" sz="1850" dirty="0"/>
          </a:p>
        </p:txBody>
      </p:sp>
      <p:sp>
        <p:nvSpPr>
          <p:cNvPr id="15" name="Text 11"/>
          <p:cNvSpPr/>
          <p:nvPr/>
        </p:nvSpPr>
        <p:spPr>
          <a:xfrm>
            <a:off x="5770840" y="2675334"/>
            <a:ext cx="3700343" cy="1204436"/>
          </a:xfrm>
          <a:prstGeom prst="rect">
            <a:avLst/>
          </a:prstGeom>
          <a:noFill/>
          <a:ln/>
        </p:spPr>
        <p:txBody>
          <a:bodyPr wrap="square" lIns="0" tIns="0" rIns="0" bIns="0" rtlCol="0" anchor="t"/>
          <a:lstStyle/>
          <a:p>
            <a:pPr algn="l" marL="342900" indent="-342900">
              <a:lnSpc>
                <a:spcPts val="2350"/>
              </a:lnSpc>
              <a:buSzPct val="100000"/>
              <a:buChar char="•"/>
            </a:pPr>
            <a:r>
              <a:rPr lang="en-US" sz="1450" dirty="0">
                <a:solidFill>
                  <a:srgbClr val="2A2742"/>
                </a:solidFill>
                <a:latin typeface="Arimo" pitchFamily="34" charset="0"/>
                <a:ea typeface="Arimo" pitchFamily="34" charset="-122"/>
                <a:cs typeface="Arimo" pitchFamily="34" charset="-120"/>
              </a:rPr>
              <a:t>Προώθηση της ασφάλειας και της προστασίας των Ευρωπαίων πολιτών με την οικοδόμηση μιας Ευρωπαϊκής Αμυντικής Ένωσης</a:t>
            </a:r>
            <a:endParaRPr lang="en-US" sz="1450" dirty="0"/>
          </a:p>
        </p:txBody>
      </p:sp>
      <p:sp>
        <p:nvSpPr>
          <p:cNvPr id="16" name="Text 12"/>
          <p:cNvSpPr/>
          <p:nvPr/>
        </p:nvSpPr>
        <p:spPr>
          <a:xfrm>
            <a:off x="5770840" y="3945612"/>
            <a:ext cx="3700343" cy="903327"/>
          </a:xfrm>
          <a:prstGeom prst="rect">
            <a:avLst/>
          </a:prstGeom>
          <a:noFill/>
          <a:ln/>
        </p:spPr>
        <p:txBody>
          <a:bodyPr wrap="square" lIns="0" tIns="0" rIns="0" bIns="0" rtlCol="0" anchor="t"/>
          <a:lstStyle/>
          <a:p>
            <a:pPr algn="l" marL="342900" indent="-342900">
              <a:lnSpc>
                <a:spcPts val="2350"/>
              </a:lnSpc>
              <a:buSzPct val="100000"/>
              <a:buChar char="•"/>
            </a:pPr>
            <a:r>
              <a:rPr lang="en-US" sz="1450" dirty="0">
                <a:solidFill>
                  <a:srgbClr val="2A2742"/>
                </a:solidFill>
                <a:latin typeface="Arimo" pitchFamily="34" charset="0"/>
                <a:ea typeface="Arimo" pitchFamily="34" charset="-122"/>
                <a:cs typeface="Arimo" pitchFamily="34" charset="-120"/>
              </a:rPr>
              <a:t>Αντιμετώπιση όλων των απειλών εντός και εκτός διαδικτύου και ετοιμότητα αντίδρασης σε κρίσεις</a:t>
            </a:r>
            <a:endParaRPr lang="en-US" sz="1450" dirty="0"/>
          </a:p>
        </p:txBody>
      </p:sp>
      <p:sp>
        <p:nvSpPr>
          <p:cNvPr id="17" name="Text 13"/>
          <p:cNvSpPr/>
          <p:nvPr/>
        </p:nvSpPr>
        <p:spPr>
          <a:xfrm>
            <a:off x="5770840" y="4914781"/>
            <a:ext cx="3700343" cy="903327"/>
          </a:xfrm>
          <a:prstGeom prst="rect">
            <a:avLst/>
          </a:prstGeom>
          <a:noFill/>
          <a:ln/>
        </p:spPr>
        <p:txBody>
          <a:bodyPr wrap="square" lIns="0" tIns="0" rIns="0" bIns="0" rtlCol="0" anchor="t"/>
          <a:lstStyle/>
          <a:p>
            <a:pPr algn="l" marL="342900" indent="-342900">
              <a:lnSpc>
                <a:spcPts val="2350"/>
              </a:lnSpc>
              <a:buSzPct val="100000"/>
              <a:buChar char="•"/>
            </a:pPr>
            <a:r>
              <a:rPr lang="en-US" sz="1450" dirty="0">
                <a:solidFill>
                  <a:srgbClr val="2A2742"/>
                </a:solidFill>
                <a:latin typeface="Arimo" pitchFamily="34" charset="0"/>
                <a:ea typeface="Arimo" pitchFamily="34" charset="-122"/>
                <a:cs typeface="Arimo" pitchFamily="34" charset="-120"/>
              </a:rPr>
              <a:t>Ενδυνάμωση των κοινών μας συνόρων και διαχείριση της μετανάστευσης με δίκαιο και αταλάντευτο τρόπο</a:t>
            </a:r>
            <a:endParaRPr lang="en-US" sz="1450" dirty="0"/>
          </a:p>
        </p:txBody>
      </p:sp>
      <p:sp>
        <p:nvSpPr>
          <p:cNvPr id="18" name="Shape 14"/>
          <p:cNvSpPr/>
          <p:nvPr/>
        </p:nvSpPr>
        <p:spPr>
          <a:xfrm>
            <a:off x="9659422" y="1974294"/>
            <a:ext cx="423505" cy="423505"/>
          </a:xfrm>
          <a:prstGeom prst="roundRect">
            <a:avLst>
              <a:gd name="adj" fmla="val 18668"/>
            </a:avLst>
          </a:prstGeom>
          <a:solidFill>
            <a:srgbClr val="E9E6FA"/>
          </a:solidFill>
          <a:ln w="7620">
            <a:solidFill>
              <a:srgbClr val="BDB8DF"/>
            </a:solidFill>
            <a:prstDash val="solid"/>
          </a:ln>
        </p:spPr>
      </p:sp>
      <p:pic>
        <p:nvPicPr>
          <p:cNvPr id="19" name="Image 2" descr="preencoded.png">    </p:cNvPr>
          <p:cNvPicPr>
            <a:picLocks noChangeAspect="1"/>
          </p:cNvPicPr>
          <p:nvPr/>
        </p:nvPicPr>
        <p:blipFill>
          <a:blip r:embed="rId3"/>
          <a:stretch>
            <a:fillRect/>
          </a:stretch>
        </p:blipFill>
        <p:spPr>
          <a:xfrm>
            <a:off x="9729966" y="2009537"/>
            <a:ext cx="282297" cy="352901"/>
          </a:xfrm>
          <a:prstGeom prst="rect">
            <a:avLst/>
          </a:prstGeom>
        </p:spPr>
      </p:pic>
      <p:sp>
        <p:nvSpPr>
          <p:cNvPr id="20" name="Text 15"/>
          <p:cNvSpPr/>
          <p:nvPr/>
        </p:nvSpPr>
        <p:spPr>
          <a:xfrm>
            <a:off x="10271165" y="1974294"/>
            <a:ext cx="3700343" cy="882253"/>
          </a:xfrm>
          <a:prstGeom prst="rect">
            <a:avLst/>
          </a:prstGeom>
          <a:noFill/>
          <a:ln/>
        </p:spPr>
        <p:txBody>
          <a:bodyPr wrap="square" lIns="0" tIns="0" rIns="0" bIns="0" rtlCol="0" anchor="t"/>
          <a:lstStyle/>
          <a:p>
            <a:pPr algn="l" indent="0" marL="0">
              <a:lnSpc>
                <a:spcPts val="2300"/>
              </a:lnSpc>
              <a:buNone/>
            </a:pPr>
            <a:r>
              <a:rPr lang="en-US" sz="1850" b="1" i="1" dirty="0">
                <a:solidFill>
                  <a:srgbClr val="2A2742"/>
                </a:solidFill>
                <a:latin typeface="Outfit Extra Bold" pitchFamily="34" charset="0"/>
                <a:ea typeface="Outfit Extra Bold" pitchFamily="34" charset="-122"/>
                <a:cs typeface="Outfit Extra Bold" pitchFamily="34" charset="-120"/>
              </a:rPr>
              <a:t>Στήριξη των ανθρώπων, ενίσχυση των κοινωνιών και του κοινωνικού μοντέλου μας</a:t>
            </a:r>
            <a:endParaRPr lang="en-US" sz="1850" dirty="0"/>
          </a:p>
        </p:txBody>
      </p:sp>
      <p:sp>
        <p:nvSpPr>
          <p:cNvPr id="21" name="Text 16"/>
          <p:cNvSpPr/>
          <p:nvPr/>
        </p:nvSpPr>
        <p:spPr>
          <a:xfrm>
            <a:off x="10271165" y="2969419"/>
            <a:ext cx="3700343" cy="1505545"/>
          </a:xfrm>
          <a:prstGeom prst="rect">
            <a:avLst/>
          </a:prstGeom>
          <a:noFill/>
          <a:ln/>
        </p:spPr>
        <p:txBody>
          <a:bodyPr wrap="square" lIns="0" tIns="0" rIns="0" bIns="0" rtlCol="0" anchor="t"/>
          <a:lstStyle/>
          <a:p>
            <a:pPr algn="l" marL="342900" indent="-342900">
              <a:lnSpc>
                <a:spcPts val="2350"/>
              </a:lnSpc>
              <a:buSzPct val="100000"/>
              <a:buChar char="•"/>
            </a:pPr>
            <a:r>
              <a:rPr lang="en-US" sz="1450" dirty="0">
                <a:solidFill>
                  <a:srgbClr val="2A2742"/>
                </a:solidFill>
                <a:latin typeface="Arimo" pitchFamily="34" charset="0"/>
                <a:ea typeface="Arimo" pitchFamily="34" charset="-122"/>
                <a:cs typeface="Arimo" pitchFamily="34" charset="-120"/>
              </a:rPr>
              <a:t>Διατήρηση και βελτίωση της ποιότητας ζωής που απολαμβάνουμε σήμερα στην Ευρώπη μέσα από την προώθηση της κοινωνικής δικαιοσύνης στη σύγχρονη οικονομία</a:t>
            </a:r>
            <a:endParaRPr lang="en-US" sz="1450" dirty="0"/>
          </a:p>
        </p:txBody>
      </p:sp>
      <p:sp>
        <p:nvSpPr>
          <p:cNvPr id="22" name="Text 17"/>
          <p:cNvSpPr/>
          <p:nvPr/>
        </p:nvSpPr>
        <p:spPr>
          <a:xfrm>
            <a:off x="10271165" y="4540806"/>
            <a:ext cx="3700343" cy="903327"/>
          </a:xfrm>
          <a:prstGeom prst="rect">
            <a:avLst/>
          </a:prstGeom>
          <a:noFill/>
          <a:ln/>
        </p:spPr>
        <p:txBody>
          <a:bodyPr wrap="square" lIns="0" tIns="0" rIns="0" bIns="0" rtlCol="0" anchor="t"/>
          <a:lstStyle/>
          <a:p>
            <a:pPr algn="l" marL="342900" indent="-342900">
              <a:lnSpc>
                <a:spcPts val="2350"/>
              </a:lnSpc>
              <a:buSzPct val="100000"/>
              <a:buChar char="•"/>
            </a:pPr>
            <a:r>
              <a:rPr lang="en-US" sz="1450" dirty="0">
                <a:solidFill>
                  <a:srgbClr val="2A2742"/>
                </a:solidFill>
                <a:latin typeface="Arimo" pitchFamily="34" charset="0"/>
                <a:ea typeface="Arimo" pitchFamily="34" charset="-122"/>
                <a:cs typeface="Arimo" pitchFamily="34" charset="-120"/>
              </a:rPr>
              <a:t>Ενίσχυση της αλληλεγγύης μεταξύ των πολιτών με την επανένωση των κοινωνιών μας και τη στήριξη των νέων</a:t>
            </a:r>
            <a:endParaRPr lang="en-US" sz="1450" dirty="0"/>
          </a:p>
        </p:txBody>
      </p:sp>
      <p:sp>
        <p:nvSpPr>
          <p:cNvPr id="23" name="Text 18"/>
          <p:cNvSpPr/>
          <p:nvPr/>
        </p:nvSpPr>
        <p:spPr>
          <a:xfrm>
            <a:off x="10271165" y="5509974"/>
            <a:ext cx="3700343" cy="301109"/>
          </a:xfrm>
          <a:prstGeom prst="rect">
            <a:avLst/>
          </a:prstGeom>
          <a:noFill/>
          <a:ln/>
        </p:spPr>
        <p:txBody>
          <a:bodyPr wrap="none" lIns="0" tIns="0" rIns="0" bIns="0" rtlCol="0" anchor="t"/>
          <a:lstStyle/>
          <a:p>
            <a:pPr algn="l" marL="342900" indent="-342900">
              <a:lnSpc>
                <a:spcPts val="2350"/>
              </a:lnSpc>
              <a:buSzPct val="100000"/>
              <a:buChar char="•"/>
            </a:pPr>
            <a:r>
              <a:rPr lang="en-US" sz="1450" dirty="0">
                <a:solidFill>
                  <a:srgbClr val="2A2742"/>
                </a:solidFill>
                <a:latin typeface="Arimo" pitchFamily="34" charset="0"/>
                <a:ea typeface="Arimo" pitchFamily="34" charset="-122"/>
                <a:cs typeface="Arimo" pitchFamily="34" charset="-120"/>
              </a:rPr>
              <a:t>Διασφάλιση ίσων ευκαιριών για όλους.</a:t>
            </a:r>
            <a:endParaRPr lang="en-US" sz="1450" dirty="0"/>
          </a:p>
        </p:txBody>
      </p:sp>
      <p:sp>
        <p:nvSpPr>
          <p:cNvPr id="24" name="Text 19"/>
          <p:cNvSpPr/>
          <p:nvPr/>
        </p:nvSpPr>
        <p:spPr>
          <a:xfrm>
            <a:off x="658773" y="7130653"/>
            <a:ext cx="13312854" cy="301109"/>
          </a:xfrm>
          <a:prstGeom prst="rect">
            <a:avLst/>
          </a:prstGeom>
          <a:noFill/>
          <a:ln/>
        </p:spPr>
        <p:txBody>
          <a:bodyPr wrap="none" lIns="0" tIns="0" rIns="0" bIns="0" rtlCol="0" anchor="t"/>
          <a:lstStyle/>
          <a:p>
            <a:pPr algn="l" indent="0" marL="0">
              <a:lnSpc>
                <a:spcPts val="2350"/>
              </a:lnSpc>
              <a:buNone/>
            </a:pP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396835" y="311825"/>
            <a:ext cx="7848838" cy="354330"/>
          </a:xfrm>
          <a:prstGeom prst="rect">
            <a:avLst/>
          </a:prstGeom>
          <a:noFill/>
          <a:ln/>
        </p:spPr>
        <p:txBody>
          <a:bodyPr wrap="none" lIns="0" tIns="0" rIns="0" bIns="0" rtlCol="0" anchor="t"/>
          <a:lstStyle/>
          <a:p>
            <a:pPr algn="l" indent="0" marL="0">
              <a:lnSpc>
                <a:spcPts val="2750"/>
              </a:lnSpc>
              <a:buNone/>
            </a:pPr>
            <a:r>
              <a:rPr lang="en-US" sz="2200" b="1" i="1" dirty="0">
                <a:solidFill>
                  <a:srgbClr val="231971"/>
                </a:solidFill>
                <a:latin typeface="Outfit Extra Bold" pitchFamily="34" charset="0"/>
                <a:ea typeface="Outfit Extra Bold" pitchFamily="34" charset="-122"/>
                <a:cs typeface="Outfit Extra Bold" pitchFamily="34" charset="-120"/>
              </a:rPr>
              <a:t>Προτεραιότητες της Επιτροπής για την περίοδο 2024-2029</a:t>
            </a:r>
            <a:endParaRPr lang="en-US" sz="2200" dirty="0"/>
          </a:p>
        </p:txBody>
      </p:sp>
      <p:pic>
        <p:nvPicPr>
          <p:cNvPr id="3" name="Image 0" descr="preencoded.png">    </p:cNvPr>
          <p:cNvPicPr>
            <a:picLocks noChangeAspect="1"/>
          </p:cNvPicPr>
          <p:nvPr/>
        </p:nvPicPr>
        <p:blipFill>
          <a:blip r:embed="rId1"/>
          <a:stretch>
            <a:fillRect/>
          </a:stretch>
        </p:blipFill>
        <p:spPr>
          <a:xfrm>
            <a:off x="396835" y="892969"/>
            <a:ext cx="3459123" cy="453628"/>
          </a:xfrm>
          <a:prstGeom prst="rect">
            <a:avLst/>
          </a:prstGeom>
        </p:spPr>
      </p:pic>
      <p:sp>
        <p:nvSpPr>
          <p:cNvPr id="4" name="Text 1"/>
          <p:cNvSpPr/>
          <p:nvPr/>
        </p:nvSpPr>
        <p:spPr>
          <a:xfrm>
            <a:off x="510183" y="1516618"/>
            <a:ext cx="3232428" cy="354330"/>
          </a:xfrm>
          <a:prstGeom prst="rect">
            <a:avLst/>
          </a:prstGeom>
          <a:noFill/>
          <a:ln/>
        </p:spPr>
        <p:txBody>
          <a:bodyPr wrap="square" lIns="0" tIns="0" rIns="0" bIns="0" rtlCol="0" anchor="t"/>
          <a:lstStyle/>
          <a:p>
            <a:pPr algn="l" indent="0" marL="0">
              <a:lnSpc>
                <a:spcPts val="1350"/>
              </a:lnSpc>
              <a:buNone/>
            </a:pPr>
            <a:r>
              <a:rPr lang="en-US" sz="1100" b="1" i="1" dirty="0">
                <a:solidFill>
                  <a:srgbClr val="2A2742"/>
                </a:solidFill>
                <a:latin typeface="Outfit Extra Bold" pitchFamily="34" charset="0"/>
                <a:ea typeface="Outfit Extra Bold" pitchFamily="34" charset="-122"/>
                <a:cs typeface="Outfit Extra Bold" pitchFamily="34" charset="-120"/>
              </a:rPr>
              <a:t>Διατήρηση της ποιότητας ζωής μας: επισιτιστική ασφάλεια, νερό και φύση</a:t>
            </a:r>
            <a:endParaRPr lang="en-US" sz="1100" dirty="0"/>
          </a:p>
        </p:txBody>
      </p:sp>
      <p:sp>
        <p:nvSpPr>
          <p:cNvPr id="5" name="Text 2"/>
          <p:cNvSpPr/>
          <p:nvPr/>
        </p:nvSpPr>
        <p:spPr>
          <a:xfrm>
            <a:off x="510183" y="1938933"/>
            <a:ext cx="3232428" cy="362903"/>
          </a:xfrm>
          <a:prstGeom prst="rect">
            <a:avLst/>
          </a:prstGeom>
          <a:noFill/>
          <a:ln/>
        </p:spPr>
        <p:txBody>
          <a:bodyPr wrap="square" lIns="0" tIns="0" rIns="0" bIns="0" rtlCol="0" anchor="t"/>
          <a:lstStyle/>
          <a:p>
            <a:pPr algn="l" marL="342900" indent="-342900">
              <a:lnSpc>
                <a:spcPts val="1400"/>
              </a:lnSpc>
              <a:buSzPct val="100000"/>
              <a:buChar char="•"/>
            </a:pPr>
            <a:r>
              <a:rPr lang="en-US" sz="850" dirty="0">
                <a:solidFill>
                  <a:srgbClr val="2A2742"/>
                </a:solidFill>
                <a:latin typeface="Arimo" pitchFamily="34" charset="0"/>
                <a:ea typeface="Arimo" pitchFamily="34" charset="-122"/>
                <a:cs typeface="Arimo" pitchFamily="34" charset="-120"/>
              </a:rPr>
              <a:t>Οικοδόμηση ενός ανταγωνιστικού και ανθεκτικού συστήματος γεωργίας και τροφίμων</a:t>
            </a:r>
            <a:endParaRPr lang="en-US" sz="850" dirty="0"/>
          </a:p>
        </p:txBody>
      </p:sp>
      <p:sp>
        <p:nvSpPr>
          <p:cNvPr id="6" name="Text 3"/>
          <p:cNvSpPr/>
          <p:nvPr/>
        </p:nvSpPr>
        <p:spPr>
          <a:xfrm>
            <a:off x="510183" y="2341483"/>
            <a:ext cx="3232428" cy="181451"/>
          </a:xfrm>
          <a:prstGeom prst="rect">
            <a:avLst/>
          </a:prstGeom>
          <a:noFill/>
          <a:ln/>
        </p:spPr>
        <p:txBody>
          <a:bodyPr wrap="none" lIns="0" tIns="0" rIns="0" bIns="0" rtlCol="0" anchor="t"/>
          <a:lstStyle/>
          <a:p>
            <a:pPr algn="l" marL="342900" indent="-342900">
              <a:lnSpc>
                <a:spcPts val="1400"/>
              </a:lnSpc>
              <a:buSzPct val="100000"/>
              <a:buChar char="•"/>
            </a:pPr>
            <a:r>
              <a:rPr lang="en-US" sz="850" dirty="0">
                <a:solidFill>
                  <a:srgbClr val="2A2742"/>
                </a:solidFill>
                <a:latin typeface="Arimo" pitchFamily="34" charset="0"/>
                <a:ea typeface="Arimo" pitchFamily="34" charset="-122"/>
                <a:cs typeface="Arimo" pitchFamily="34" charset="-120"/>
              </a:rPr>
              <a:t>Διασφάλιση της βιοποικιλότητας</a:t>
            </a:r>
            <a:endParaRPr lang="en-US" sz="850" dirty="0"/>
          </a:p>
        </p:txBody>
      </p:sp>
      <p:sp>
        <p:nvSpPr>
          <p:cNvPr id="7" name="Text 4"/>
          <p:cNvSpPr/>
          <p:nvPr/>
        </p:nvSpPr>
        <p:spPr>
          <a:xfrm>
            <a:off x="510183" y="2562582"/>
            <a:ext cx="3232428" cy="181451"/>
          </a:xfrm>
          <a:prstGeom prst="rect">
            <a:avLst/>
          </a:prstGeom>
          <a:noFill/>
          <a:ln/>
        </p:spPr>
        <p:txBody>
          <a:bodyPr wrap="none" lIns="0" tIns="0" rIns="0" bIns="0" rtlCol="0" anchor="t"/>
          <a:lstStyle/>
          <a:p>
            <a:pPr algn="l" marL="342900" indent="-342900">
              <a:lnSpc>
                <a:spcPts val="1400"/>
              </a:lnSpc>
              <a:buSzPct val="100000"/>
              <a:buChar char="•"/>
            </a:pPr>
            <a:r>
              <a:rPr lang="en-US" sz="850" dirty="0">
                <a:solidFill>
                  <a:srgbClr val="2A2742"/>
                </a:solidFill>
                <a:latin typeface="Arimo" pitchFamily="34" charset="0"/>
                <a:ea typeface="Arimo" pitchFamily="34" charset="-122"/>
                <a:cs typeface="Arimo" pitchFamily="34" charset="-120"/>
              </a:rPr>
              <a:t>Προσαρμογή και προετοιμασία για την κλιματική αλλαγή</a:t>
            </a:r>
            <a:endParaRPr lang="en-US" sz="850" dirty="0"/>
          </a:p>
        </p:txBody>
      </p:sp>
      <p:pic>
        <p:nvPicPr>
          <p:cNvPr id="8" name="Image 1" descr="preencoded.png">    </p:cNvPr>
          <p:cNvPicPr>
            <a:picLocks noChangeAspect="1"/>
          </p:cNvPicPr>
          <p:nvPr/>
        </p:nvPicPr>
        <p:blipFill>
          <a:blip r:embed="rId2"/>
          <a:stretch>
            <a:fillRect/>
          </a:stretch>
        </p:blipFill>
        <p:spPr>
          <a:xfrm>
            <a:off x="3855958" y="892969"/>
            <a:ext cx="3459242" cy="453628"/>
          </a:xfrm>
          <a:prstGeom prst="rect">
            <a:avLst/>
          </a:prstGeom>
        </p:spPr>
      </p:pic>
      <p:sp>
        <p:nvSpPr>
          <p:cNvPr id="9" name="Text 5"/>
          <p:cNvSpPr/>
          <p:nvPr/>
        </p:nvSpPr>
        <p:spPr>
          <a:xfrm>
            <a:off x="3969306" y="1516618"/>
            <a:ext cx="3232547" cy="354330"/>
          </a:xfrm>
          <a:prstGeom prst="rect">
            <a:avLst/>
          </a:prstGeom>
          <a:noFill/>
          <a:ln/>
        </p:spPr>
        <p:txBody>
          <a:bodyPr wrap="square" lIns="0" tIns="0" rIns="0" bIns="0" rtlCol="0" anchor="t"/>
          <a:lstStyle/>
          <a:p>
            <a:pPr algn="l" indent="0" marL="0">
              <a:lnSpc>
                <a:spcPts val="1350"/>
              </a:lnSpc>
              <a:buNone/>
            </a:pPr>
            <a:r>
              <a:rPr lang="en-US" sz="1100" b="1" i="1" dirty="0">
                <a:solidFill>
                  <a:srgbClr val="2A2742"/>
                </a:solidFill>
                <a:latin typeface="Outfit Extra Bold" pitchFamily="34" charset="0"/>
                <a:ea typeface="Outfit Extra Bold" pitchFamily="34" charset="-122"/>
                <a:cs typeface="Outfit Extra Bold" pitchFamily="34" charset="-120"/>
              </a:rPr>
              <a:t>Προστασία της δημοκρατία μας, προάσπιση των αξιών μας</a:t>
            </a:r>
            <a:endParaRPr lang="en-US" sz="1100" dirty="0"/>
          </a:p>
        </p:txBody>
      </p:sp>
      <p:sp>
        <p:nvSpPr>
          <p:cNvPr id="10" name="Text 6"/>
          <p:cNvSpPr/>
          <p:nvPr/>
        </p:nvSpPr>
        <p:spPr>
          <a:xfrm>
            <a:off x="3969306" y="1938933"/>
            <a:ext cx="3232547" cy="181451"/>
          </a:xfrm>
          <a:prstGeom prst="rect">
            <a:avLst/>
          </a:prstGeom>
          <a:noFill/>
          <a:ln/>
        </p:spPr>
        <p:txBody>
          <a:bodyPr wrap="none" lIns="0" tIns="0" rIns="0" bIns="0" rtlCol="0" anchor="t"/>
          <a:lstStyle/>
          <a:p>
            <a:pPr algn="l" marL="342900" indent="-342900">
              <a:lnSpc>
                <a:spcPts val="1400"/>
              </a:lnSpc>
              <a:buSzPct val="100000"/>
              <a:buChar char="•"/>
            </a:pPr>
            <a:r>
              <a:rPr lang="en-US" sz="850" dirty="0">
                <a:solidFill>
                  <a:srgbClr val="2A2742"/>
                </a:solidFill>
                <a:latin typeface="Arimo" pitchFamily="34" charset="0"/>
                <a:ea typeface="Arimo" pitchFamily="34" charset="-122"/>
                <a:cs typeface="Arimo" pitchFamily="34" charset="-120"/>
              </a:rPr>
              <a:t>Προστασία και υπεράσπιση της δημοκρατίας</a:t>
            </a:r>
            <a:endParaRPr lang="en-US" sz="850" dirty="0"/>
          </a:p>
        </p:txBody>
      </p:sp>
      <p:sp>
        <p:nvSpPr>
          <p:cNvPr id="11" name="Text 7"/>
          <p:cNvSpPr/>
          <p:nvPr/>
        </p:nvSpPr>
        <p:spPr>
          <a:xfrm>
            <a:off x="3969306" y="2160032"/>
            <a:ext cx="3232547" cy="362903"/>
          </a:xfrm>
          <a:prstGeom prst="rect">
            <a:avLst/>
          </a:prstGeom>
          <a:noFill/>
          <a:ln/>
        </p:spPr>
        <p:txBody>
          <a:bodyPr wrap="square" lIns="0" tIns="0" rIns="0" bIns="0" rtlCol="0" anchor="t"/>
          <a:lstStyle/>
          <a:p>
            <a:pPr algn="l" marL="342900" indent="-342900">
              <a:lnSpc>
                <a:spcPts val="1400"/>
              </a:lnSpc>
              <a:buSzPct val="100000"/>
              <a:buChar char="•"/>
            </a:pPr>
            <a:r>
              <a:rPr lang="en-US" sz="850" dirty="0">
                <a:solidFill>
                  <a:srgbClr val="2A2742"/>
                </a:solidFill>
                <a:latin typeface="Arimo" pitchFamily="34" charset="0"/>
                <a:ea typeface="Arimo" pitchFamily="34" charset="-122"/>
                <a:cs typeface="Arimo" pitchFamily="34" charset="-120"/>
              </a:rPr>
              <a:t>Αύξηση της ανθεκτικότητας και της ετοιμότητας της κοινωνίας</a:t>
            </a:r>
            <a:endParaRPr lang="en-US" sz="850" dirty="0"/>
          </a:p>
        </p:txBody>
      </p:sp>
      <p:sp>
        <p:nvSpPr>
          <p:cNvPr id="12" name="Text 8"/>
          <p:cNvSpPr/>
          <p:nvPr/>
        </p:nvSpPr>
        <p:spPr>
          <a:xfrm>
            <a:off x="3969306" y="2562582"/>
            <a:ext cx="3232547" cy="362903"/>
          </a:xfrm>
          <a:prstGeom prst="rect">
            <a:avLst/>
          </a:prstGeom>
          <a:noFill/>
          <a:ln/>
        </p:spPr>
        <p:txBody>
          <a:bodyPr wrap="square" lIns="0" tIns="0" rIns="0" bIns="0" rtlCol="0" anchor="t"/>
          <a:lstStyle/>
          <a:p>
            <a:pPr algn="l" marL="342900" indent="-342900">
              <a:lnSpc>
                <a:spcPts val="1400"/>
              </a:lnSpc>
              <a:buSzPct val="100000"/>
              <a:buChar char="•"/>
            </a:pPr>
            <a:r>
              <a:rPr lang="en-US" sz="850" dirty="0">
                <a:solidFill>
                  <a:srgbClr val="2A2742"/>
                </a:solidFill>
                <a:latin typeface="Arimo" pitchFamily="34" charset="0"/>
                <a:ea typeface="Arimo" pitchFamily="34" charset="-122"/>
                <a:cs typeface="Arimo" pitchFamily="34" charset="-120"/>
              </a:rPr>
              <a:t>Ενίσχυση του κράτους δικαίου για τη δίκαιη και εύρυθμη λειτουργία της κοινωνίας</a:t>
            </a:r>
            <a:endParaRPr lang="en-US" sz="850" dirty="0"/>
          </a:p>
        </p:txBody>
      </p:sp>
      <p:sp>
        <p:nvSpPr>
          <p:cNvPr id="13" name="Text 9"/>
          <p:cNvSpPr/>
          <p:nvPr/>
        </p:nvSpPr>
        <p:spPr>
          <a:xfrm>
            <a:off x="3969306" y="2965133"/>
            <a:ext cx="3232547" cy="362903"/>
          </a:xfrm>
          <a:prstGeom prst="rect">
            <a:avLst/>
          </a:prstGeom>
          <a:noFill/>
          <a:ln/>
        </p:spPr>
        <p:txBody>
          <a:bodyPr wrap="square" lIns="0" tIns="0" rIns="0" bIns="0" rtlCol="0" anchor="t"/>
          <a:lstStyle/>
          <a:p>
            <a:pPr algn="l" marL="342900" indent="-342900">
              <a:lnSpc>
                <a:spcPts val="1400"/>
              </a:lnSpc>
              <a:buSzPct val="100000"/>
              <a:buChar char="•"/>
            </a:pPr>
            <a:r>
              <a:rPr lang="en-US" sz="850" dirty="0">
                <a:solidFill>
                  <a:srgbClr val="2A2742"/>
                </a:solidFill>
                <a:latin typeface="Arimo" pitchFamily="34" charset="0"/>
                <a:ea typeface="Arimo" pitchFamily="34" charset="-122"/>
                <a:cs typeface="Arimo" pitchFamily="34" charset="-120"/>
              </a:rPr>
              <a:t>Προώθηση του ενεργού ρόλου και της συμμετοχής των πολιτών στα κοινά</a:t>
            </a:r>
            <a:endParaRPr lang="en-US" sz="850" dirty="0"/>
          </a:p>
        </p:txBody>
      </p:sp>
      <p:pic>
        <p:nvPicPr>
          <p:cNvPr id="14" name="Image 2" descr="preencoded.png">    </p:cNvPr>
          <p:cNvPicPr>
            <a:picLocks noChangeAspect="1"/>
          </p:cNvPicPr>
          <p:nvPr/>
        </p:nvPicPr>
        <p:blipFill>
          <a:blip r:embed="rId3"/>
          <a:stretch>
            <a:fillRect/>
          </a:stretch>
        </p:blipFill>
        <p:spPr>
          <a:xfrm>
            <a:off x="7315200" y="892969"/>
            <a:ext cx="3459123" cy="453628"/>
          </a:xfrm>
          <a:prstGeom prst="rect">
            <a:avLst/>
          </a:prstGeom>
        </p:spPr>
      </p:pic>
      <p:sp>
        <p:nvSpPr>
          <p:cNvPr id="15" name="Text 10"/>
          <p:cNvSpPr/>
          <p:nvPr/>
        </p:nvSpPr>
        <p:spPr>
          <a:xfrm>
            <a:off x="7428548" y="1516618"/>
            <a:ext cx="3232428" cy="354330"/>
          </a:xfrm>
          <a:prstGeom prst="rect">
            <a:avLst/>
          </a:prstGeom>
          <a:noFill/>
          <a:ln/>
        </p:spPr>
        <p:txBody>
          <a:bodyPr wrap="square" lIns="0" tIns="0" rIns="0" bIns="0" rtlCol="0" anchor="t"/>
          <a:lstStyle/>
          <a:p>
            <a:pPr algn="l" indent="0" marL="0">
              <a:lnSpc>
                <a:spcPts val="1350"/>
              </a:lnSpc>
              <a:buNone/>
            </a:pPr>
            <a:r>
              <a:rPr lang="en-US" sz="1100" b="1" i="1" dirty="0">
                <a:solidFill>
                  <a:srgbClr val="2A2742"/>
                </a:solidFill>
                <a:latin typeface="Outfit Extra Bold" pitchFamily="34" charset="0"/>
                <a:ea typeface="Outfit Extra Bold" pitchFamily="34" charset="-122"/>
                <a:cs typeface="Outfit Extra Bold" pitchFamily="34" charset="-120"/>
              </a:rPr>
              <a:t>Η Ευρώπη στον κόσμο: αξιοποίηση της δύναμής μας και των εταιρικών μας σχέσεων</a:t>
            </a:r>
            <a:endParaRPr lang="en-US" sz="1100" dirty="0"/>
          </a:p>
        </p:txBody>
      </p:sp>
      <p:sp>
        <p:nvSpPr>
          <p:cNvPr id="16" name="Text 11"/>
          <p:cNvSpPr/>
          <p:nvPr/>
        </p:nvSpPr>
        <p:spPr>
          <a:xfrm>
            <a:off x="7428548" y="1938933"/>
            <a:ext cx="3232428" cy="181451"/>
          </a:xfrm>
          <a:prstGeom prst="rect">
            <a:avLst/>
          </a:prstGeom>
          <a:noFill/>
          <a:ln/>
        </p:spPr>
        <p:txBody>
          <a:bodyPr wrap="none" lIns="0" tIns="0" rIns="0" bIns="0" rtlCol="0" anchor="t"/>
          <a:lstStyle/>
          <a:p>
            <a:pPr algn="l" marL="342900" indent="-342900">
              <a:lnSpc>
                <a:spcPts val="1400"/>
              </a:lnSpc>
              <a:buSzPct val="100000"/>
              <a:buChar char="•"/>
            </a:pPr>
            <a:r>
              <a:rPr lang="en-US" sz="850" dirty="0">
                <a:solidFill>
                  <a:srgbClr val="2A2742"/>
                </a:solidFill>
                <a:latin typeface="Arimo" pitchFamily="34" charset="0"/>
                <a:ea typeface="Arimo" pitchFamily="34" charset="-122"/>
                <a:cs typeface="Arimo" pitchFamily="34" charset="-120"/>
              </a:rPr>
              <a:t>Ανάληψη προσπαθειών για τη διεύρυνση της ΕΕ </a:t>
            </a:r>
            <a:endParaRPr lang="en-US" sz="850" dirty="0"/>
          </a:p>
        </p:txBody>
      </p:sp>
      <p:sp>
        <p:nvSpPr>
          <p:cNvPr id="17" name="Text 12"/>
          <p:cNvSpPr/>
          <p:nvPr/>
        </p:nvSpPr>
        <p:spPr>
          <a:xfrm>
            <a:off x="7428548" y="2160032"/>
            <a:ext cx="3232428" cy="544354"/>
          </a:xfrm>
          <a:prstGeom prst="rect">
            <a:avLst/>
          </a:prstGeom>
          <a:noFill/>
          <a:ln/>
        </p:spPr>
        <p:txBody>
          <a:bodyPr wrap="square" lIns="0" tIns="0" rIns="0" bIns="0" rtlCol="0" anchor="t"/>
          <a:lstStyle/>
          <a:p>
            <a:pPr algn="l" marL="342900" indent="-342900">
              <a:lnSpc>
                <a:spcPts val="1400"/>
              </a:lnSpc>
              <a:buSzPct val="100000"/>
              <a:buChar char="•"/>
            </a:pPr>
            <a:r>
              <a:rPr lang="en-US" sz="850" dirty="0">
                <a:solidFill>
                  <a:srgbClr val="2A2742"/>
                </a:solidFill>
                <a:latin typeface="Arimo" pitchFamily="34" charset="0"/>
                <a:ea typeface="Arimo" pitchFamily="34" charset="-122"/>
                <a:cs typeface="Arimo" pitchFamily="34" charset="-120"/>
              </a:rPr>
              <a:t>Εστίαση στην ευρύτερη γειτονιά μας για την προώθηση της ειρήνης, των εταιρικών σχέσεων και της οικονομικής σταθερότητας</a:t>
            </a:r>
            <a:endParaRPr lang="en-US" sz="850" dirty="0"/>
          </a:p>
        </p:txBody>
      </p:sp>
      <p:sp>
        <p:nvSpPr>
          <p:cNvPr id="18" name="Text 13"/>
          <p:cNvSpPr/>
          <p:nvPr/>
        </p:nvSpPr>
        <p:spPr>
          <a:xfrm>
            <a:off x="7428548" y="2744033"/>
            <a:ext cx="3232428" cy="181451"/>
          </a:xfrm>
          <a:prstGeom prst="rect">
            <a:avLst/>
          </a:prstGeom>
          <a:noFill/>
          <a:ln/>
        </p:spPr>
        <p:txBody>
          <a:bodyPr wrap="none" lIns="0" tIns="0" rIns="0" bIns="0" rtlCol="0" anchor="t"/>
          <a:lstStyle/>
          <a:p>
            <a:pPr algn="l" marL="342900" indent="-342900">
              <a:lnSpc>
                <a:spcPts val="1400"/>
              </a:lnSpc>
              <a:buSzPct val="100000"/>
              <a:buChar char="•"/>
            </a:pPr>
            <a:r>
              <a:rPr lang="en-US" sz="850" dirty="0">
                <a:solidFill>
                  <a:srgbClr val="2A2742"/>
                </a:solidFill>
                <a:latin typeface="Arimo" pitchFamily="34" charset="0"/>
                <a:ea typeface="Arimo" pitchFamily="34" charset="-122"/>
                <a:cs typeface="Arimo" pitchFamily="34" charset="-120"/>
              </a:rPr>
              <a:t>Χάραξη μιας νέας οικονομικής εξωτερικής πολιτικής</a:t>
            </a:r>
            <a:endParaRPr lang="en-US" sz="850" dirty="0"/>
          </a:p>
        </p:txBody>
      </p:sp>
      <p:sp>
        <p:nvSpPr>
          <p:cNvPr id="19" name="Text 14"/>
          <p:cNvSpPr/>
          <p:nvPr/>
        </p:nvSpPr>
        <p:spPr>
          <a:xfrm>
            <a:off x="7428548" y="2965133"/>
            <a:ext cx="3232428" cy="181451"/>
          </a:xfrm>
          <a:prstGeom prst="rect">
            <a:avLst/>
          </a:prstGeom>
          <a:noFill/>
          <a:ln/>
        </p:spPr>
        <p:txBody>
          <a:bodyPr wrap="none" lIns="0" tIns="0" rIns="0" bIns="0" rtlCol="0" anchor="t"/>
          <a:lstStyle/>
          <a:p>
            <a:pPr algn="l" marL="342900" indent="-342900">
              <a:lnSpc>
                <a:spcPts val="1400"/>
              </a:lnSpc>
              <a:buSzPct val="100000"/>
              <a:buChar char="•"/>
            </a:pPr>
            <a:r>
              <a:rPr lang="en-US" sz="850" dirty="0">
                <a:solidFill>
                  <a:srgbClr val="2A2742"/>
                </a:solidFill>
                <a:latin typeface="Arimo" pitchFamily="34" charset="0"/>
                <a:ea typeface="Arimo" pitchFamily="34" charset="-122"/>
                <a:cs typeface="Arimo" pitchFamily="34" charset="-120"/>
              </a:rPr>
              <a:t>Μεταρρύθμιση του διεθνούς συστήματος </a:t>
            </a:r>
            <a:endParaRPr lang="en-US" sz="850" dirty="0"/>
          </a:p>
        </p:txBody>
      </p:sp>
      <p:pic>
        <p:nvPicPr>
          <p:cNvPr id="20" name="Image 3" descr="preencoded.png">    </p:cNvPr>
          <p:cNvPicPr>
            <a:picLocks noChangeAspect="1"/>
          </p:cNvPicPr>
          <p:nvPr/>
        </p:nvPicPr>
        <p:blipFill>
          <a:blip r:embed="rId4"/>
          <a:stretch>
            <a:fillRect/>
          </a:stretch>
        </p:blipFill>
        <p:spPr>
          <a:xfrm>
            <a:off x="10774323" y="892969"/>
            <a:ext cx="3459242" cy="453628"/>
          </a:xfrm>
          <a:prstGeom prst="rect">
            <a:avLst/>
          </a:prstGeom>
        </p:spPr>
      </p:pic>
      <p:sp>
        <p:nvSpPr>
          <p:cNvPr id="21" name="Text 15"/>
          <p:cNvSpPr/>
          <p:nvPr/>
        </p:nvSpPr>
        <p:spPr>
          <a:xfrm>
            <a:off x="10887670" y="1516618"/>
            <a:ext cx="3232547" cy="354330"/>
          </a:xfrm>
          <a:prstGeom prst="rect">
            <a:avLst/>
          </a:prstGeom>
          <a:noFill/>
          <a:ln/>
        </p:spPr>
        <p:txBody>
          <a:bodyPr wrap="square" lIns="0" tIns="0" rIns="0" bIns="0" rtlCol="0" anchor="t"/>
          <a:lstStyle/>
          <a:p>
            <a:pPr algn="l" indent="0" marL="0">
              <a:lnSpc>
                <a:spcPts val="1350"/>
              </a:lnSpc>
              <a:buNone/>
            </a:pPr>
            <a:r>
              <a:rPr lang="en-US" sz="1100" b="1" i="1" dirty="0">
                <a:solidFill>
                  <a:srgbClr val="2A2742"/>
                </a:solidFill>
                <a:latin typeface="Outfit Extra Bold" pitchFamily="34" charset="0"/>
                <a:ea typeface="Outfit Extra Bold" pitchFamily="34" charset="-122"/>
                <a:cs typeface="Outfit Extra Bold" pitchFamily="34" charset="-120"/>
              </a:rPr>
              <a:t>Από κοινού υλοποίηση των στόχων μας και προετοιμασία της Ένωσής μας για το μέλλον</a:t>
            </a:r>
            <a:endParaRPr lang="en-US" sz="1100" dirty="0"/>
          </a:p>
        </p:txBody>
      </p:sp>
      <p:sp>
        <p:nvSpPr>
          <p:cNvPr id="22" name="Text 16"/>
          <p:cNvSpPr/>
          <p:nvPr/>
        </p:nvSpPr>
        <p:spPr>
          <a:xfrm>
            <a:off x="10887670" y="1938933"/>
            <a:ext cx="3232547" cy="362903"/>
          </a:xfrm>
          <a:prstGeom prst="rect">
            <a:avLst/>
          </a:prstGeom>
          <a:noFill/>
          <a:ln/>
        </p:spPr>
        <p:txBody>
          <a:bodyPr wrap="square" lIns="0" tIns="0" rIns="0" bIns="0" rtlCol="0" anchor="t"/>
          <a:lstStyle/>
          <a:p>
            <a:pPr algn="l" marL="342900" indent="-342900">
              <a:lnSpc>
                <a:spcPts val="1400"/>
              </a:lnSpc>
              <a:buSzPct val="100000"/>
              <a:buChar char="•"/>
            </a:pPr>
            <a:r>
              <a:rPr lang="en-US" sz="850" dirty="0">
                <a:solidFill>
                  <a:srgbClr val="2A2742"/>
                </a:solidFill>
                <a:latin typeface="Arimo" pitchFamily="34" charset="0"/>
                <a:ea typeface="Arimo" pitchFamily="34" charset="-122"/>
                <a:cs typeface="Arimo" pitchFamily="34" charset="-120"/>
              </a:rPr>
              <a:t>Ανάπτυξη ενός απλούστερου και πιο αποτελεσματικού προϋπολογισμού της ΕΕ</a:t>
            </a:r>
            <a:endParaRPr lang="en-US" sz="850" dirty="0"/>
          </a:p>
        </p:txBody>
      </p:sp>
      <p:sp>
        <p:nvSpPr>
          <p:cNvPr id="23" name="Text 17"/>
          <p:cNvSpPr/>
          <p:nvPr/>
        </p:nvSpPr>
        <p:spPr>
          <a:xfrm>
            <a:off x="10887670" y="2341483"/>
            <a:ext cx="3232547" cy="181451"/>
          </a:xfrm>
          <a:prstGeom prst="rect">
            <a:avLst/>
          </a:prstGeom>
          <a:noFill/>
          <a:ln/>
        </p:spPr>
        <p:txBody>
          <a:bodyPr wrap="none" lIns="0" tIns="0" rIns="0" bIns="0" rtlCol="0" anchor="t"/>
          <a:lstStyle/>
          <a:p>
            <a:pPr algn="l" marL="342900" indent="-342900">
              <a:lnSpc>
                <a:spcPts val="1400"/>
              </a:lnSpc>
              <a:buSzPct val="100000"/>
              <a:buChar char="•"/>
            </a:pPr>
            <a:r>
              <a:rPr lang="en-US" sz="850" dirty="0">
                <a:solidFill>
                  <a:srgbClr val="2A2742"/>
                </a:solidFill>
                <a:latin typeface="Arimo" pitchFamily="34" charset="0"/>
                <a:ea typeface="Arimo" pitchFamily="34" charset="-122"/>
                <a:cs typeface="Arimo" pitchFamily="34" charset="-120"/>
              </a:rPr>
              <a:t>Εφαρμογή μεταρρυθμίσεων</a:t>
            </a:r>
            <a:endParaRPr lang="en-US" sz="850" dirty="0"/>
          </a:p>
        </p:txBody>
      </p:sp>
      <p:sp>
        <p:nvSpPr>
          <p:cNvPr id="24" name="Text 18"/>
          <p:cNvSpPr/>
          <p:nvPr/>
        </p:nvSpPr>
        <p:spPr>
          <a:xfrm>
            <a:off x="396835" y="3568898"/>
            <a:ext cx="13836729" cy="181451"/>
          </a:xfrm>
          <a:prstGeom prst="rect">
            <a:avLst/>
          </a:prstGeom>
          <a:noFill/>
          <a:ln/>
        </p:spPr>
        <p:txBody>
          <a:bodyPr wrap="none" lIns="0" tIns="0" rIns="0" bIns="0" rtlCol="0" anchor="t"/>
          <a:lstStyle/>
          <a:p>
            <a:pPr algn="l" indent="0" marL="0">
              <a:lnSpc>
                <a:spcPts val="1400"/>
              </a:lnSpc>
              <a:buNone/>
            </a:pPr>
            <a:endParaRPr lang="en-US" sz="850" dirty="0"/>
          </a:p>
        </p:txBody>
      </p:sp>
      <p:sp>
        <p:nvSpPr>
          <p:cNvPr id="25" name="Text 19"/>
          <p:cNvSpPr/>
          <p:nvPr/>
        </p:nvSpPr>
        <p:spPr>
          <a:xfrm>
            <a:off x="396835" y="3920371"/>
            <a:ext cx="9031129" cy="354330"/>
          </a:xfrm>
          <a:prstGeom prst="rect">
            <a:avLst/>
          </a:prstGeom>
          <a:noFill/>
          <a:ln/>
        </p:spPr>
        <p:txBody>
          <a:bodyPr wrap="none" lIns="0" tIns="0" rIns="0" bIns="0" rtlCol="0" anchor="t"/>
          <a:lstStyle/>
          <a:p>
            <a:pPr algn="l" indent="0" marL="0">
              <a:lnSpc>
                <a:spcPts val="2750"/>
              </a:lnSpc>
              <a:buNone/>
            </a:pPr>
            <a:r>
              <a:rPr lang="en-US" sz="2200" b="1" dirty="0">
                <a:solidFill>
                  <a:srgbClr val="231971"/>
                </a:solidFill>
                <a:latin typeface="Outfit Extra Bold" pitchFamily="34" charset="0"/>
                <a:ea typeface="Outfit Extra Bold" pitchFamily="34" charset="-122"/>
                <a:cs typeface="Outfit Extra Bold" pitchFamily="34" charset="-120"/>
              </a:rPr>
              <a:t>Στήριξη των ανθρώπων και ενίσχυση του κοινωνικού μοντέλου</a:t>
            </a:r>
            <a:endParaRPr lang="en-US" sz="2200" dirty="0"/>
          </a:p>
        </p:txBody>
      </p:sp>
      <p:sp>
        <p:nvSpPr>
          <p:cNvPr id="26" name="Text 20"/>
          <p:cNvSpPr/>
          <p:nvPr/>
        </p:nvSpPr>
        <p:spPr>
          <a:xfrm>
            <a:off x="3580924" y="5157430"/>
            <a:ext cx="1627108" cy="177165"/>
          </a:xfrm>
          <a:prstGeom prst="rect">
            <a:avLst/>
          </a:prstGeom>
          <a:noFill/>
          <a:ln/>
        </p:spPr>
        <p:txBody>
          <a:bodyPr wrap="none" lIns="0" tIns="0" rIns="0" bIns="0" rtlCol="0" anchor="t"/>
          <a:lstStyle/>
          <a:p>
            <a:pPr algn="r" indent="0" marL="0">
              <a:lnSpc>
                <a:spcPts val="1350"/>
              </a:lnSpc>
              <a:buNone/>
            </a:pPr>
            <a:r>
              <a:rPr lang="en-US" sz="1100" b="1" dirty="0">
                <a:solidFill>
                  <a:srgbClr val="2A2742"/>
                </a:solidFill>
                <a:latin typeface="Outfit Extra Bold" pitchFamily="34" charset="0"/>
                <a:ea typeface="Outfit Extra Bold" pitchFamily="34" charset="-122"/>
                <a:cs typeface="Outfit Extra Bold" pitchFamily="34" charset="-120"/>
              </a:rPr>
              <a:t>Κοινωνική δικαιοσύνη</a:t>
            </a:r>
            <a:endParaRPr lang="en-US" sz="1100" dirty="0"/>
          </a:p>
        </p:txBody>
      </p:sp>
      <p:sp>
        <p:nvSpPr>
          <p:cNvPr id="27" name="Text 21"/>
          <p:cNvSpPr/>
          <p:nvPr/>
        </p:nvSpPr>
        <p:spPr>
          <a:xfrm>
            <a:off x="396835" y="5402580"/>
            <a:ext cx="4811197" cy="181451"/>
          </a:xfrm>
          <a:prstGeom prst="rect">
            <a:avLst/>
          </a:prstGeom>
          <a:noFill/>
          <a:ln/>
        </p:spPr>
        <p:txBody>
          <a:bodyPr wrap="none" lIns="0" tIns="0" rIns="0" bIns="0" rtlCol="0" anchor="t"/>
          <a:lstStyle/>
          <a:p>
            <a:pPr algn="r" indent="0" marL="0">
              <a:lnSpc>
                <a:spcPts val="1400"/>
              </a:lnSpc>
              <a:buNone/>
            </a:pPr>
            <a:r>
              <a:rPr lang="en-US" sz="850" dirty="0">
                <a:solidFill>
                  <a:srgbClr val="2A2742"/>
                </a:solidFill>
                <a:latin typeface="Arimo" pitchFamily="34" charset="0"/>
                <a:ea typeface="Arimo" pitchFamily="34" charset="-122"/>
                <a:cs typeface="Arimo" pitchFamily="34" charset="-120"/>
              </a:rPr>
              <a:t>Προώθηση της κοινωνικής δικαιοσύνης στη σύγχρονη οικονομία</a:t>
            </a:r>
            <a:endParaRPr lang="en-US" sz="850" dirty="0"/>
          </a:p>
        </p:txBody>
      </p:sp>
      <p:pic>
        <p:nvPicPr>
          <p:cNvPr id="28" name="Image 4" descr="preencoded.png">    </p:cNvPr>
          <p:cNvPicPr>
            <a:picLocks noChangeAspect="1"/>
          </p:cNvPicPr>
          <p:nvPr/>
        </p:nvPicPr>
        <p:blipFill>
          <a:blip r:embed="rId5"/>
          <a:stretch>
            <a:fillRect/>
          </a:stretch>
        </p:blipFill>
        <p:spPr>
          <a:xfrm>
            <a:off x="5378053" y="4444722"/>
            <a:ext cx="3874175" cy="3874175"/>
          </a:xfrm>
          <a:prstGeom prst="rect">
            <a:avLst/>
          </a:prstGeom>
        </p:spPr>
      </p:pic>
      <p:sp>
        <p:nvSpPr>
          <p:cNvPr id="29" name="Shape 22"/>
          <p:cNvSpPr/>
          <p:nvPr/>
        </p:nvSpPr>
        <p:spPr>
          <a:xfrm>
            <a:off x="5854958" y="4921627"/>
            <a:ext cx="283488" cy="283488"/>
          </a:xfrm>
          <a:prstGeom prst="roundRect">
            <a:avLst>
              <a:gd name="adj" fmla="val 3222308"/>
            </a:avLst>
          </a:prstGeom>
          <a:solidFill>
            <a:srgbClr val="E9E6FA"/>
          </a:solidFill>
          <a:ln w="7620">
            <a:solidFill>
              <a:srgbClr val="BDB8DF"/>
            </a:solidFill>
            <a:prstDash val="solid"/>
          </a:ln>
        </p:spPr>
      </p:sp>
      <p:pic>
        <p:nvPicPr>
          <p:cNvPr id="30" name="Image 5" descr="preencoded.png">    </p:cNvPr>
          <p:cNvPicPr>
            <a:picLocks noChangeAspect="1"/>
          </p:cNvPicPr>
          <p:nvPr/>
        </p:nvPicPr>
        <p:blipFill>
          <a:blip r:embed="rId6"/>
          <a:stretch>
            <a:fillRect/>
          </a:stretch>
        </p:blipFill>
        <p:spPr>
          <a:xfrm>
            <a:off x="5932944" y="4983659"/>
            <a:ext cx="127516" cy="159425"/>
          </a:xfrm>
          <a:prstGeom prst="rect">
            <a:avLst/>
          </a:prstGeom>
        </p:spPr>
      </p:pic>
      <p:sp>
        <p:nvSpPr>
          <p:cNvPr id="31" name="Text 23"/>
          <p:cNvSpPr/>
          <p:nvPr/>
        </p:nvSpPr>
        <p:spPr>
          <a:xfrm>
            <a:off x="9422249" y="5157430"/>
            <a:ext cx="1417558" cy="177165"/>
          </a:xfrm>
          <a:prstGeom prst="rect">
            <a:avLst/>
          </a:prstGeom>
          <a:noFill/>
          <a:ln/>
        </p:spPr>
        <p:txBody>
          <a:bodyPr wrap="none" lIns="0" tIns="0" rIns="0" bIns="0" rtlCol="0" anchor="t"/>
          <a:lstStyle/>
          <a:p>
            <a:pPr algn="l" indent="0" marL="0">
              <a:lnSpc>
                <a:spcPts val="1350"/>
              </a:lnSpc>
              <a:buNone/>
            </a:pPr>
            <a:r>
              <a:rPr lang="en-US" sz="1100" b="1" dirty="0">
                <a:solidFill>
                  <a:srgbClr val="2A2742"/>
                </a:solidFill>
                <a:latin typeface="Outfit Extra Bold" pitchFamily="34" charset="0"/>
                <a:ea typeface="Outfit Extra Bold" pitchFamily="34" charset="-122"/>
                <a:cs typeface="Outfit Extra Bold" pitchFamily="34" charset="-120"/>
              </a:rPr>
              <a:t>Αλληλεγγύη</a:t>
            </a:r>
            <a:endParaRPr lang="en-US" sz="1100" dirty="0"/>
          </a:p>
        </p:txBody>
      </p:sp>
      <p:sp>
        <p:nvSpPr>
          <p:cNvPr id="32" name="Text 24"/>
          <p:cNvSpPr/>
          <p:nvPr/>
        </p:nvSpPr>
        <p:spPr>
          <a:xfrm>
            <a:off x="9422249" y="5402580"/>
            <a:ext cx="4811316" cy="181451"/>
          </a:xfrm>
          <a:prstGeom prst="rect">
            <a:avLst/>
          </a:prstGeom>
          <a:noFill/>
          <a:ln/>
        </p:spPr>
        <p:txBody>
          <a:bodyPr wrap="none" lIns="0" tIns="0" rIns="0" bIns="0" rtlCol="0" anchor="t"/>
          <a:lstStyle/>
          <a:p>
            <a:pPr algn="l" indent="0" marL="0">
              <a:lnSpc>
                <a:spcPts val="1400"/>
              </a:lnSpc>
              <a:buNone/>
            </a:pPr>
            <a:r>
              <a:rPr lang="en-US" sz="850" dirty="0">
                <a:solidFill>
                  <a:srgbClr val="2A2742"/>
                </a:solidFill>
                <a:latin typeface="Arimo" pitchFamily="34" charset="0"/>
                <a:ea typeface="Arimo" pitchFamily="34" charset="-122"/>
                <a:cs typeface="Arimo" pitchFamily="34" charset="-120"/>
              </a:rPr>
              <a:t>Ενίσχυση της αλληλεγγύης μεταξύ των πολιτών με την επανένωση των κοινωνιών</a:t>
            </a:r>
            <a:endParaRPr lang="en-US" sz="850" dirty="0"/>
          </a:p>
        </p:txBody>
      </p:sp>
      <p:pic>
        <p:nvPicPr>
          <p:cNvPr id="33" name="Image 6" descr="preencoded.png">    </p:cNvPr>
          <p:cNvPicPr>
            <a:picLocks noChangeAspect="1"/>
          </p:cNvPicPr>
          <p:nvPr/>
        </p:nvPicPr>
        <p:blipFill>
          <a:blip r:embed="rId7"/>
          <a:stretch>
            <a:fillRect/>
          </a:stretch>
        </p:blipFill>
        <p:spPr>
          <a:xfrm>
            <a:off x="5378053" y="4444722"/>
            <a:ext cx="3874175" cy="3874175"/>
          </a:xfrm>
          <a:prstGeom prst="rect">
            <a:avLst/>
          </a:prstGeom>
        </p:spPr>
      </p:pic>
      <p:sp>
        <p:nvSpPr>
          <p:cNvPr id="34" name="Shape 25"/>
          <p:cNvSpPr/>
          <p:nvPr/>
        </p:nvSpPr>
        <p:spPr>
          <a:xfrm>
            <a:off x="8491716" y="4921627"/>
            <a:ext cx="283488" cy="283488"/>
          </a:xfrm>
          <a:prstGeom prst="roundRect">
            <a:avLst>
              <a:gd name="adj" fmla="val 3222308"/>
            </a:avLst>
          </a:prstGeom>
          <a:solidFill>
            <a:srgbClr val="E9E6FA"/>
          </a:solidFill>
          <a:ln w="7620">
            <a:solidFill>
              <a:srgbClr val="BDB8DF"/>
            </a:solidFill>
            <a:prstDash val="solid"/>
          </a:ln>
        </p:spPr>
      </p:sp>
      <p:pic>
        <p:nvPicPr>
          <p:cNvPr id="35" name="Image 7" descr="preencoded.png">    </p:cNvPr>
          <p:cNvPicPr>
            <a:picLocks noChangeAspect="1"/>
          </p:cNvPicPr>
          <p:nvPr/>
        </p:nvPicPr>
        <p:blipFill>
          <a:blip r:embed="rId8"/>
          <a:stretch>
            <a:fillRect/>
          </a:stretch>
        </p:blipFill>
        <p:spPr>
          <a:xfrm>
            <a:off x="8569702" y="4999613"/>
            <a:ext cx="127516" cy="127516"/>
          </a:xfrm>
          <a:prstGeom prst="rect">
            <a:avLst/>
          </a:prstGeom>
        </p:spPr>
      </p:pic>
      <p:sp>
        <p:nvSpPr>
          <p:cNvPr id="36" name="Text 26"/>
          <p:cNvSpPr/>
          <p:nvPr/>
        </p:nvSpPr>
        <p:spPr>
          <a:xfrm>
            <a:off x="9422249" y="7179469"/>
            <a:ext cx="1417558" cy="177165"/>
          </a:xfrm>
          <a:prstGeom prst="rect">
            <a:avLst/>
          </a:prstGeom>
          <a:noFill/>
          <a:ln/>
        </p:spPr>
        <p:txBody>
          <a:bodyPr wrap="none" lIns="0" tIns="0" rIns="0" bIns="0" rtlCol="0" anchor="t"/>
          <a:lstStyle/>
          <a:p>
            <a:pPr algn="l" indent="0" marL="0">
              <a:lnSpc>
                <a:spcPts val="1350"/>
              </a:lnSpc>
              <a:buNone/>
            </a:pPr>
            <a:r>
              <a:rPr lang="en-US" sz="1100" b="1" dirty="0">
                <a:solidFill>
                  <a:srgbClr val="2A2742"/>
                </a:solidFill>
                <a:latin typeface="Outfit Extra Bold" pitchFamily="34" charset="0"/>
                <a:ea typeface="Outfit Extra Bold" pitchFamily="34" charset="-122"/>
                <a:cs typeface="Outfit Extra Bold" pitchFamily="34" charset="-120"/>
              </a:rPr>
              <a:t>Στήριξη των νέων</a:t>
            </a:r>
            <a:endParaRPr lang="en-US" sz="1100" dirty="0"/>
          </a:p>
        </p:txBody>
      </p:sp>
      <p:sp>
        <p:nvSpPr>
          <p:cNvPr id="37" name="Text 27"/>
          <p:cNvSpPr/>
          <p:nvPr/>
        </p:nvSpPr>
        <p:spPr>
          <a:xfrm>
            <a:off x="9422249" y="7424618"/>
            <a:ext cx="4811316" cy="181451"/>
          </a:xfrm>
          <a:prstGeom prst="rect">
            <a:avLst/>
          </a:prstGeom>
          <a:noFill/>
          <a:ln/>
        </p:spPr>
        <p:txBody>
          <a:bodyPr wrap="none" lIns="0" tIns="0" rIns="0" bIns="0" rtlCol="0" anchor="t"/>
          <a:lstStyle/>
          <a:p>
            <a:pPr algn="l" indent="0" marL="0">
              <a:lnSpc>
                <a:spcPts val="1400"/>
              </a:lnSpc>
              <a:buNone/>
            </a:pPr>
            <a:r>
              <a:rPr lang="en-US" sz="850" dirty="0">
                <a:solidFill>
                  <a:srgbClr val="2A2742"/>
                </a:solidFill>
                <a:latin typeface="Arimo" pitchFamily="34" charset="0"/>
                <a:ea typeface="Arimo" pitchFamily="34" charset="-122"/>
                <a:cs typeface="Arimo" pitchFamily="34" charset="-120"/>
              </a:rPr>
              <a:t>Παροχή ευκαιριών και υποστήριξης στη νέα γενιά</a:t>
            </a:r>
            <a:endParaRPr lang="en-US" sz="850" dirty="0"/>
          </a:p>
        </p:txBody>
      </p:sp>
      <p:pic>
        <p:nvPicPr>
          <p:cNvPr id="38" name="Image 8" descr="preencoded.png">    </p:cNvPr>
          <p:cNvPicPr>
            <a:picLocks noChangeAspect="1"/>
          </p:cNvPicPr>
          <p:nvPr/>
        </p:nvPicPr>
        <p:blipFill>
          <a:blip r:embed="rId9"/>
          <a:stretch>
            <a:fillRect/>
          </a:stretch>
        </p:blipFill>
        <p:spPr>
          <a:xfrm>
            <a:off x="5378053" y="4444722"/>
            <a:ext cx="3874175" cy="3874175"/>
          </a:xfrm>
          <a:prstGeom prst="rect">
            <a:avLst/>
          </a:prstGeom>
        </p:spPr>
      </p:pic>
      <p:sp>
        <p:nvSpPr>
          <p:cNvPr id="39" name="Shape 28"/>
          <p:cNvSpPr/>
          <p:nvPr/>
        </p:nvSpPr>
        <p:spPr>
          <a:xfrm>
            <a:off x="8491716" y="7558385"/>
            <a:ext cx="283488" cy="283488"/>
          </a:xfrm>
          <a:prstGeom prst="roundRect">
            <a:avLst>
              <a:gd name="adj" fmla="val 3222308"/>
            </a:avLst>
          </a:prstGeom>
          <a:solidFill>
            <a:srgbClr val="E9E6FA"/>
          </a:solidFill>
          <a:ln w="7620">
            <a:solidFill>
              <a:srgbClr val="BDB8DF"/>
            </a:solidFill>
            <a:prstDash val="solid"/>
          </a:ln>
        </p:spPr>
      </p:sp>
      <p:pic>
        <p:nvPicPr>
          <p:cNvPr id="40" name="Image 9" descr="preencoded.png">    </p:cNvPr>
          <p:cNvPicPr>
            <a:picLocks noChangeAspect="1"/>
          </p:cNvPicPr>
          <p:nvPr/>
        </p:nvPicPr>
        <p:blipFill>
          <a:blip r:embed="rId10"/>
          <a:stretch>
            <a:fillRect/>
          </a:stretch>
        </p:blipFill>
        <p:spPr>
          <a:xfrm>
            <a:off x="8569702" y="7620417"/>
            <a:ext cx="127516" cy="159425"/>
          </a:xfrm>
          <a:prstGeom prst="rect">
            <a:avLst/>
          </a:prstGeom>
        </p:spPr>
      </p:pic>
      <p:sp>
        <p:nvSpPr>
          <p:cNvPr id="41" name="Text 29"/>
          <p:cNvSpPr/>
          <p:nvPr/>
        </p:nvSpPr>
        <p:spPr>
          <a:xfrm>
            <a:off x="3790474" y="7179469"/>
            <a:ext cx="1417558" cy="177165"/>
          </a:xfrm>
          <a:prstGeom prst="rect">
            <a:avLst/>
          </a:prstGeom>
          <a:noFill/>
          <a:ln/>
        </p:spPr>
        <p:txBody>
          <a:bodyPr wrap="none" lIns="0" tIns="0" rIns="0" bIns="0" rtlCol="0" anchor="t"/>
          <a:lstStyle/>
          <a:p>
            <a:pPr algn="r" indent="0" marL="0">
              <a:lnSpc>
                <a:spcPts val="1350"/>
              </a:lnSpc>
              <a:buNone/>
            </a:pPr>
            <a:r>
              <a:rPr lang="en-US" sz="1100" b="1" dirty="0">
                <a:solidFill>
                  <a:srgbClr val="2A2742"/>
                </a:solidFill>
                <a:latin typeface="Outfit Extra Bold" pitchFamily="34" charset="0"/>
                <a:ea typeface="Outfit Extra Bold" pitchFamily="34" charset="-122"/>
                <a:cs typeface="Outfit Extra Bold" pitchFamily="34" charset="-120"/>
              </a:rPr>
              <a:t>Ίσες ευκαιρίες</a:t>
            </a:r>
            <a:endParaRPr lang="en-US" sz="1100" dirty="0"/>
          </a:p>
        </p:txBody>
      </p:sp>
      <p:sp>
        <p:nvSpPr>
          <p:cNvPr id="42" name="Text 30"/>
          <p:cNvSpPr/>
          <p:nvPr/>
        </p:nvSpPr>
        <p:spPr>
          <a:xfrm>
            <a:off x="396835" y="7424618"/>
            <a:ext cx="4811197" cy="181451"/>
          </a:xfrm>
          <a:prstGeom prst="rect">
            <a:avLst/>
          </a:prstGeom>
          <a:noFill/>
          <a:ln/>
        </p:spPr>
        <p:txBody>
          <a:bodyPr wrap="none" lIns="0" tIns="0" rIns="0" bIns="0" rtlCol="0" anchor="t"/>
          <a:lstStyle/>
          <a:p>
            <a:pPr algn="r" indent="0" marL="0">
              <a:lnSpc>
                <a:spcPts val="1400"/>
              </a:lnSpc>
              <a:buNone/>
            </a:pPr>
            <a:r>
              <a:rPr lang="en-US" sz="850" dirty="0">
                <a:solidFill>
                  <a:srgbClr val="2A2742"/>
                </a:solidFill>
                <a:latin typeface="Arimo" pitchFamily="34" charset="0"/>
                <a:ea typeface="Arimo" pitchFamily="34" charset="-122"/>
                <a:cs typeface="Arimo" pitchFamily="34" charset="-120"/>
              </a:rPr>
              <a:t>Διασφάλιση ίσων ευκαιριών για όλους τους πολίτες</a:t>
            </a:r>
            <a:endParaRPr lang="en-US" sz="850" dirty="0"/>
          </a:p>
        </p:txBody>
      </p:sp>
      <p:pic>
        <p:nvPicPr>
          <p:cNvPr id="43" name="Image 10" descr="preencoded.png">    </p:cNvPr>
          <p:cNvPicPr>
            <a:picLocks noChangeAspect="1"/>
          </p:cNvPicPr>
          <p:nvPr/>
        </p:nvPicPr>
        <p:blipFill>
          <a:blip r:embed="rId11"/>
          <a:stretch>
            <a:fillRect/>
          </a:stretch>
        </p:blipFill>
        <p:spPr>
          <a:xfrm>
            <a:off x="5378053" y="4444722"/>
            <a:ext cx="3874175" cy="3874175"/>
          </a:xfrm>
          <a:prstGeom prst="rect">
            <a:avLst/>
          </a:prstGeom>
        </p:spPr>
      </p:pic>
      <p:sp>
        <p:nvSpPr>
          <p:cNvPr id="44" name="Shape 31"/>
          <p:cNvSpPr/>
          <p:nvPr/>
        </p:nvSpPr>
        <p:spPr>
          <a:xfrm>
            <a:off x="5854958" y="7558385"/>
            <a:ext cx="283488" cy="283488"/>
          </a:xfrm>
          <a:prstGeom prst="roundRect">
            <a:avLst>
              <a:gd name="adj" fmla="val 3222308"/>
            </a:avLst>
          </a:prstGeom>
          <a:solidFill>
            <a:srgbClr val="E9E6FA"/>
          </a:solidFill>
          <a:ln w="7620">
            <a:solidFill>
              <a:srgbClr val="BDB8DF"/>
            </a:solidFill>
            <a:prstDash val="solid"/>
          </a:ln>
        </p:spPr>
      </p:sp>
      <p:pic>
        <p:nvPicPr>
          <p:cNvPr id="45" name="Image 11" descr="preencoded.png">    </p:cNvPr>
          <p:cNvPicPr>
            <a:picLocks noChangeAspect="1"/>
          </p:cNvPicPr>
          <p:nvPr/>
        </p:nvPicPr>
        <p:blipFill>
          <a:blip r:embed="rId12"/>
          <a:stretch>
            <a:fillRect/>
          </a:stretch>
        </p:blipFill>
        <p:spPr>
          <a:xfrm>
            <a:off x="5932944" y="7620417"/>
            <a:ext cx="127516" cy="159425"/>
          </a:xfrm>
          <a:prstGeom prst="rect">
            <a:avLst/>
          </a:prstGeom>
        </p:spPr>
      </p:pic>
      <p:sp>
        <p:nvSpPr>
          <p:cNvPr id="46" name="Text 32"/>
          <p:cNvSpPr/>
          <p:nvPr/>
        </p:nvSpPr>
        <p:spPr>
          <a:xfrm>
            <a:off x="396835" y="8446413"/>
            <a:ext cx="13836729" cy="362903"/>
          </a:xfrm>
          <a:prstGeom prst="rect">
            <a:avLst/>
          </a:prstGeom>
          <a:noFill/>
          <a:ln/>
        </p:spPr>
        <p:txBody>
          <a:bodyPr wrap="square" lIns="0" tIns="0" rIns="0" bIns="0" rtlCol="0" anchor="t"/>
          <a:lstStyle/>
          <a:p>
            <a:pPr algn="l" indent="0" marL="0">
              <a:lnSpc>
                <a:spcPts val="1400"/>
              </a:lnSpc>
              <a:buNone/>
            </a:pPr>
            <a:r>
              <a:rPr lang="en-US" sz="850" dirty="0">
                <a:solidFill>
                  <a:srgbClr val="2A2742"/>
                </a:solidFill>
                <a:latin typeface="Arimo" pitchFamily="34" charset="0"/>
                <a:ea typeface="Arimo" pitchFamily="34" charset="-122"/>
                <a:cs typeface="Arimo" pitchFamily="34" charset="-120"/>
              </a:rPr>
              <a:t>Η τρίτη προτεραιότητα της Επιτροπής επικεντρώνεται στη διατήρηση και βελτίωση της ποιότητας ζωής που απολαμβάνουν οι Ευρωπαίοι πολίτες. Αυτό περιλαμβάνει την προώθηση της κοινωνικής δικαιοσύνης στο πλαίσιο της σύγχρονης οικονομίας και την ενίσχυση της αλληλεγγύης μεταξύ των πολιτών.</a:t>
            </a:r>
            <a:endParaRPr lang="en-US" sz="850" dirty="0"/>
          </a:p>
        </p:txBody>
      </p:sp>
      <p:sp>
        <p:nvSpPr>
          <p:cNvPr id="47" name="Text 33"/>
          <p:cNvSpPr/>
          <p:nvPr/>
        </p:nvSpPr>
        <p:spPr>
          <a:xfrm>
            <a:off x="396835" y="8936831"/>
            <a:ext cx="13836729" cy="181451"/>
          </a:xfrm>
          <a:prstGeom prst="rect">
            <a:avLst/>
          </a:prstGeom>
          <a:noFill/>
          <a:ln/>
        </p:spPr>
        <p:txBody>
          <a:bodyPr wrap="none" lIns="0" tIns="0" rIns="0" bIns="0" rtlCol="0" anchor="t"/>
          <a:lstStyle/>
          <a:p>
            <a:pPr algn="l" indent="0" marL="0">
              <a:lnSpc>
                <a:spcPts val="1400"/>
              </a:lnSpc>
              <a:buNone/>
            </a:pPr>
            <a:r>
              <a:rPr lang="en-US" sz="850" dirty="0">
                <a:solidFill>
                  <a:srgbClr val="2A2742"/>
                </a:solidFill>
                <a:latin typeface="Arimo" pitchFamily="34" charset="0"/>
                <a:ea typeface="Arimo" pitchFamily="34" charset="-122"/>
                <a:cs typeface="Arimo" pitchFamily="34" charset="-120"/>
              </a:rPr>
              <a:t>Ιδιαίτερη έμφαση δίνεται στη στήριξη των νέων και στη διασφάλιση ίσων ευκαιριών για όλους, ανεξάρτητα από το κοινωνικό ή οικονομικό τους υπόβαθρο. Στόχος είναι η οικοδόμηση μιας πιο συνεκτικής και δίκαιης κοινωνίας που δεν αφήνει κανέναν στο περιθώριο.</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30925" y="575548"/>
            <a:ext cx="13168551" cy="1305163"/>
          </a:xfrm>
          <a:prstGeom prst="rect">
            <a:avLst/>
          </a:prstGeom>
          <a:noFill/>
          <a:ln/>
        </p:spPr>
        <p:txBody>
          <a:bodyPr wrap="square" lIns="0" tIns="0" rIns="0" bIns="0" rtlCol="0" anchor="t"/>
          <a:lstStyle/>
          <a:p>
            <a:pPr algn="l" indent="0" marL="0">
              <a:lnSpc>
                <a:spcPts val="5100"/>
              </a:lnSpc>
              <a:buNone/>
            </a:pPr>
            <a:r>
              <a:rPr lang="en-US" sz="4100" b="1" dirty="0">
                <a:solidFill>
                  <a:srgbClr val="231971"/>
                </a:solidFill>
                <a:latin typeface="Outfit Extra Bold" pitchFamily="34" charset="0"/>
                <a:ea typeface="Outfit Extra Bold" pitchFamily="34" charset="-122"/>
                <a:cs typeface="Outfit Extra Bold" pitchFamily="34" charset="-120"/>
              </a:rPr>
              <a:t>Διατήρηση της ποιότητας ζωής: επισιτιστική ασφάλεια, νερό και φύση</a:t>
            </a:r>
            <a:endParaRPr lang="en-US" sz="4100" dirty="0"/>
          </a:p>
        </p:txBody>
      </p:sp>
      <p:sp>
        <p:nvSpPr>
          <p:cNvPr id="3" name="Shape 1"/>
          <p:cNvSpPr/>
          <p:nvPr/>
        </p:nvSpPr>
        <p:spPr>
          <a:xfrm>
            <a:off x="730925" y="2298383"/>
            <a:ext cx="4250293" cy="2881313"/>
          </a:xfrm>
          <a:prstGeom prst="roundRect">
            <a:avLst>
              <a:gd name="adj" fmla="val 3044"/>
            </a:avLst>
          </a:prstGeom>
          <a:solidFill>
            <a:srgbClr val="E9E6FA"/>
          </a:solidFill>
          <a:ln w="7620">
            <a:solidFill>
              <a:srgbClr val="BDB8DF"/>
            </a:solidFill>
            <a:prstDash val="solid"/>
          </a:ln>
        </p:spPr>
      </p:sp>
      <p:sp>
        <p:nvSpPr>
          <p:cNvPr id="4" name="Text 2"/>
          <p:cNvSpPr/>
          <p:nvPr/>
        </p:nvSpPr>
        <p:spPr>
          <a:xfrm>
            <a:off x="947380" y="2514838"/>
            <a:ext cx="3817382" cy="652701"/>
          </a:xfrm>
          <a:prstGeom prst="rect">
            <a:avLst/>
          </a:prstGeom>
          <a:noFill/>
          <a:ln/>
        </p:spPr>
        <p:txBody>
          <a:bodyPr wrap="square" lIns="0" tIns="0" rIns="0" bIns="0" rtlCol="0" anchor="t"/>
          <a:lstStyle/>
          <a:p>
            <a:pPr algn="l" indent="0" marL="0">
              <a:lnSpc>
                <a:spcPts val="2550"/>
              </a:lnSpc>
              <a:buNone/>
            </a:pPr>
            <a:r>
              <a:rPr lang="en-US" sz="2050" b="1" dirty="0">
                <a:solidFill>
                  <a:srgbClr val="2A2742"/>
                </a:solidFill>
                <a:latin typeface="Outfit Extra Bold" pitchFamily="34" charset="0"/>
                <a:ea typeface="Outfit Extra Bold" pitchFamily="34" charset="-122"/>
                <a:cs typeface="Outfit Extra Bold" pitchFamily="34" charset="-120"/>
              </a:rPr>
              <a:t>Ανταγωνιστικό σύστημα γεωργίας</a:t>
            </a:r>
            <a:endParaRPr lang="en-US" sz="2050" dirty="0"/>
          </a:p>
        </p:txBody>
      </p:sp>
      <p:sp>
        <p:nvSpPr>
          <p:cNvPr id="5" name="Text 3"/>
          <p:cNvSpPr/>
          <p:nvPr/>
        </p:nvSpPr>
        <p:spPr>
          <a:xfrm>
            <a:off x="947380" y="3292793"/>
            <a:ext cx="3817382" cy="1670447"/>
          </a:xfrm>
          <a:prstGeom prst="rect">
            <a:avLst/>
          </a:prstGeom>
          <a:noFill/>
          <a:ln/>
        </p:spPr>
        <p:txBody>
          <a:bodyPr wrap="square" lIns="0" tIns="0" rIns="0" bIns="0" rtlCol="0" anchor="t"/>
          <a:lstStyle/>
          <a:p>
            <a:pPr algn="l" indent="0" marL="0">
              <a:lnSpc>
                <a:spcPts val="2600"/>
              </a:lnSpc>
              <a:buNone/>
            </a:pPr>
            <a:r>
              <a:rPr lang="en-US" sz="1600" dirty="0">
                <a:solidFill>
                  <a:srgbClr val="2A2742"/>
                </a:solidFill>
                <a:latin typeface="Arimo" pitchFamily="34" charset="0"/>
                <a:ea typeface="Arimo" pitchFamily="34" charset="-122"/>
                <a:cs typeface="Arimo" pitchFamily="34" charset="-120"/>
              </a:rPr>
              <a:t>Οικοδόμηση ενός ανταγωνιστικού και ανθεκτικού συστήματος γεωργίας και τροφίμων που θα στηρίζει τους γεωργούς και θα διασφαλίζει την ποιότητα των τροφίμων.</a:t>
            </a:r>
            <a:endParaRPr lang="en-US" sz="1600" dirty="0"/>
          </a:p>
        </p:txBody>
      </p:sp>
      <p:sp>
        <p:nvSpPr>
          <p:cNvPr id="6" name="Shape 4"/>
          <p:cNvSpPr/>
          <p:nvPr/>
        </p:nvSpPr>
        <p:spPr>
          <a:xfrm>
            <a:off x="5190053" y="2298383"/>
            <a:ext cx="4250293" cy="2881313"/>
          </a:xfrm>
          <a:prstGeom prst="roundRect">
            <a:avLst>
              <a:gd name="adj" fmla="val 3044"/>
            </a:avLst>
          </a:prstGeom>
          <a:solidFill>
            <a:srgbClr val="E9E6FA"/>
          </a:solidFill>
          <a:ln w="7620">
            <a:solidFill>
              <a:srgbClr val="BDB8DF"/>
            </a:solidFill>
            <a:prstDash val="solid"/>
          </a:ln>
        </p:spPr>
      </p:sp>
      <p:sp>
        <p:nvSpPr>
          <p:cNvPr id="7" name="Text 5"/>
          <p:cNvSpPr/>
          <p:nvPr/>
        </p:nvSpPr>
        <p:spPr>
          <a:xfrm>
            <a:off x="5406509" y="2514838"/>
            <a:ext cx="3733205" cy="326350"/>
          </a:xfrm>
          <a:prstGeom prst="rect">
            <a:avLst/>
          </a:prstGeom>
          <a:noFill/>
          <a:ln/>
        </p:spPr>
        <p:txBody>
          <a:bodyPr wrap="none" lIns="0" tIns="0" rIns="0" bIns="0" rtlCol="0" anchor="t"/>
          <a:lstStyle/>
          <a:p>
            <a:pPr algn="l" indent="0" marL="0">
              <a:lnSpc>
                <a:spcPts val="2550"/>
              </a:lnSpc>
              <a:buNone/>
            </a:pPr>
            <a:r>
              <a:rPr lang="en-US" sz="2050" b="1" dirty="0">
                <a:solidFill>
                  <a:srgbClr val="2A2742"/>
                </a:solidFill>
                <a:latin typeface="Outfit Extra Bold" pitchFamily="34" charset="0"/>
                <a:ea typeface="Outfit Extra Bold" pitchFamily="34" charset="-122"/>
                <a:cs typeface="Outfit Extra Bold" pitchFamily="34" charset="-120"/>
              </a:rPr>
              <a:t>Προστασία βιοποικιλότητας</a:t>
            </a:r>
            <a:endParaRPr lang="en-US" sz="2050" dirty="0"/>
          </a:p>
        </p:txBody>
      </p:sp>
      <p:sp>
        <p:nvSpPr>
          <p:cNvPr id="8" name="Text 6"/>
          <p:cNvSpPr/>
          <p:nvPr/>
        </p:nvSpPr>
        <p:spPr>
          <a:xfrm>
            <a:off x="5406509" y="2966442"/>
            <a:ext cx="3817382" cy="1670447"/>
          </a:xfrm>
          <a:prstGeom prst="rect">
            <a:avLst/>
          </a:prstGeom>
          <a:noFill/>
          <a:ln/>
        </p:spPr>
        <p:txBody>
          <a:bodyPr wrap="square" lIns="0" tIns="0" rIns="0" bIns="0" rtlCol="0" anchor="t"/>
          <a:lstStyle/>
          <a:p>
            <a:pPr algn="l" indent="0" marL="0">
              <a:lnSpc>
                <a:spcPts val="2600"/>
              </a:lnSpc>
              <a:buNone/>
            </a:pPr>
            <a:r>
              <a:rPr lang="en-US" sz="1600" dirty="0">
                <a:solidFill>
                  <a:srgbClr val="2A2742"/>
                </a:solidFill>
                <a:latin typeface="Arimo" pitchFamily="34" charset="0"/>
                <a:ea typeface="Arimo" pitchFamily="34" charset="-122"/>
                <a:cs typeface="Arimo" pitchFamily="34" charset="-120"/>
              </a:rPr>
              <a:t>Διασφάλιση της βιοποικιλότητας και προστασία των φυσικών οικοσυστημάτων για τη διατήρηση της περιβαλλοντικής ισορροπίας και την προώθηση της αειφορίας.</a:t>
            </a:r>
            <a:endParaRPr lang="en-US" sz="1600" dirty="0"/>
          </a:p>
        </p:txBody>
      </p:sp>
      <p:sp>
        <p:nvSpPr>
          <p:cNvPr id="9" name="Shape 7"/>
          <p:cNvSpPr/>
          <p:nvPr/>
        </p:nvSpPr>
        <p:spPr>
          <a:xfrm>
            <a:off x="9649182" y="2298383"/>
            <a:ext cx="4250293" cy="2881313"/>
          </a:xfrm>
          <a:prstGeom prst="roundRect">
            <a:avLst>
              <a:gd name="adj" fmla="val 3044"/>
            </a:avLst>
          </a:prstGeom>
          <a:solidFill>
            <a:srgbClr val="E9E6FA"/>
          </a:solidFill>
          <a:ln w="7620">
            <a:solidFill>
              <a:srgbClr val="BDB8DF"/>
            </a:solidFill>
            <a:prstDash val="solid"/>
          </a:ln>
        </p:spPr>
      </p:sp>
      <p:sp>
        <p:nvSpPr>
          <p:cNvPr id="10" name="Text 8"/>
          <p:cNvSpPr/>
          <p:nvPr/>
        </p:nvSpPr>
        <p:spPr>
          <a:xfrm>
            <a:off x="9865638" y="2514838"/>
            <a:ext cx="3817382" cy="652701"/>
          </a:xfrm>
          <a:prstGeom prst="rect">
            <a:avLst/>
          </a:prstGeom>
          <a:noFill/>
          <a:ln/>
        </p:spPr>
        <p:txBody>
          <a:bodyPr wrap="square" lIns="0" tIns="0" rIns="0" bIns="0" rtlCol="0" anchor="t"/>
          <a:lstStyle/>
          <a:p>
            <a:pPr algn="l" indent="0" marL="0">
              <a:lnSpc>
                <a:spcPts val="2550"/>
              </a:lnSpc>
              <a:buNone/>
            </a:pPr>
            <a:r>
              <a:rPr lang="en-US" sz="2050" b="1" dirty="0">
                <a:solidFill>
                  <a:srgbClr val="2A2742"/>
                </a:solidFill>
                <a:latin typeface="Outfit Extra Bold" pitchFamily="34" charset="0"/>
                <a:ea typeface="Outfit Extra Bold" pitchFamily="34" charset="-122"/>
                <a:cs typeface="Outfit Extra Bold" pitchFamily="34" charset="-120"/>
              </a:rPr>
              <a:t>Προσαρμογή στην κλιματική αλλαγή</a:t>
            </a:r>
            <a:endParaRPr lang="en-US" sz="2050" dirty="0"/>
          </a:p>
        </p:txBody>
      </p:sp>
      <p:sp>
        <p:nvSpPr>
          <p:cNvPr id="11" name="Text 9"/>
          <p:cNvSpPr/>
          <p:nvPr/>
        </p:nvSpPr>
        <p:spPr>
          <a:xfrm>
            <a:off x="9865638" y="3292793"/>
            <a:ext cx="3817382" cy="1670447"/>
          </a:xfrm>
          <a:prstGeom prst="rect">
            <a:avLst/>
          </a:prstGeom>
          <a:noFill/>
          <a:ln/>
        </p:spPr>
        <p:txBody>
          <a:bodyPr wrap="square" lIns="0" tIns="0" rIns="0" bIns="0" rtlCol="0" anchor="t"/>
          <a:lstStyle/>
          <a:p>
            <a:pPr algn="l" indent="0" marL="0">
              <a:lnSpc>
                <a:spcPts val="2600"/>
              </a:lnSpc>
              <a:buNone/>
            </a:pPr>
            <a:r>
              <a:rPr lang="en-US" sz="1600" dirty="0">
                <a:solidFill>
                  <a:srgbClr val="2A2742"/>
                </a:solidFill>
                <a:latin typeface="Arimo" pitchFamily="34" charset="0"/>
                <a:ea typeface="Arimo" pitchFamily="34" charset="-122"/>
                <a:cs typeface="Arimo" pitchFamily="34" charset="-120"/>
              </a:rPr>
              <a:t>Προετοιμασία για τις επιπτώσεις της κλιματικής αλλαγής και ανάπτυξη μηχανισμών για την αποτελεσματική συνδρομή των πληγέντων από ακραία καιρικά φαινόμενα.</a:t>
            </a:r>
            <a:endParaRPr lang="en-US" sz="1600" dirty="0"/>
          </a:p>
        </p:txBody>
      </p:sp>
      <p:sp>
        <p:nvSpPr>
          <p:cNvPr id="12" name="Text 10"/>
          <p:cNvSpPr/>
          <p:nvPr/>
        </p:nvSpPr>
        <p:spPr>
          <a:xfrm>
            <a:off x="730925" y="5414605"/>
            <a:ext cx="13168551" cy="1002268"/>
          </a:xfrm>
          <a:prstGeom prst="rect">
            <a:avLst/>
          </a:prstGeom>
          <a:noFill/>
          <a:ln/>
        </p:spPr>
        <p:txBody>
          <a:bodyPr wrap="square" lIns="0" tIns="0" rIns="0" bIns="0" rtlCol="0" anchor="t"/>
          <a:lstStyle/>
          <a:p>
            <a:pPr algn="l" indent="0" marL="0">
              <a:lnSpc>
                <a:spcPts val="2600"/>
              </a:lnSpc>
              <a:buNone/>
            </a:pPr>
            <a:r>
              <a:rPr lang="en-US" sz="1600" dirty="0">
                <a:solidFill>
                  <a:srgbClr val="2A2742"/>
                </a:solidFill>
                <a:latin typeface="Arimo" pitchFamily="34" charset="0"/>
                <a:ea typeface="Arimo" pitchFamily="34" charset="-122"/>
                <a:cs typeface="Arimo" pitchFamily="34" charset="-120"/>
              </a:rPr>
              <a:t>Η τέταρτη προτεραιότητα της Επιτροπής αφορά τη διατήρηση της ποιότητας ζωής μέσω της διασφάλισης της επισιτιστικής ασφάλειας, της προστασίας των υδάτινων πόρων και της φύσης. Η ΕΕ στοχεύει στην οικοδόμηση ενός ανταγωνιστικού και ανθεκτικού συστήματος γεωργίας και τροφίμων που θα στηρίζει τους Ευρωπαίους γεωργούς.</a:t>
            </a:r>
            <a:endParaRPr lang="en-US" sz="1600" dirty="0"/>
          </a:p>
        </p:txBody>
      </p:sp>
      <p:sp>
        <p:nvSpPr>
          <p:cNvPr id="13" name="Text 11"/>
          <p:cNvSpPr/>
          <p:nvPr/>
        </p:nvSpPr>
        <p:spPr>
          <a:xfrm>
            <a:off x="730925" y="6651784"/>
            <a:ext cx="13168551" cy="1002268"/>
          </a:xfrm>
          <a:prstGeom prst="rect">
            <a:avLst/>
          </a:prstGeom>
          <a:noFill/>
          <a:ln/>
        </p:spPr>
        <p:txBody>
          <a:bodyPr wrap="square" lIns="0" tIns="0" rIns="0" bIns="0" rtlCol="0" anchor="t"/>
          <a:lstStyle/>
          <a:p>
            <a:pPr algn="l" indent="0" marL="0">
              <a:lnSpc>
                <a:spcPts val="2600"/>
              </a:lnSpc>
              <a:buNone/>
            </a:pPr>
            <a:r>
              <a:rPr lang="en-US" sz="1600" dirty="0">
                <a:solidFill>
                  <a:srgbClr val="2A2742"/>
                </a:solidFill>
                <a:latin typeface="Arimo" pitchFamily="34" charset="0"/>
                <a:ea typeface="Arimo" pitchFamily="34" charset="-122"/>
                <a:cs typeface="Arimo" pitchFamily="34" charset="-120"/>
              </a:rPr>
              <a:t>Παράλληλα, δίνεται έμφαση στην προστασία της βιοποικιλότητας και στην προσαρμογή στις προκλήσεις της κλιματικής αλλαγής. Η ΕΕ επιδιώκει να είναι καλύτερα προετοιμασμένη για την αντιμετώπιση των επιπτώσεων της κλιματικής αλλαγής και την παροχή βοήθειας στους πληγέντες.</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93896" y="546378"/>
            <a:ext cx="13242608" cy="1238964"/>
          </a:xfrm>
          <a:prstGeom prst="rect">
            <a:avLst/>
          </a:prstGeom>
          <a:noFill/>
          <a:ln/>
        </p:spPr>
        <p:txBody>
          <a:bodyPr wrap="square" lIns="0" tIns="0" rIns="0" bIns="0" rtlCol="0" anchor="t"/>
          <a:lstStyle/>
          <a:p>
            <a:pPr algn="l" indent="0" marL="0">
              <a:lnSpc>
                <a:spcPts val="4850"/>
              </a:lnSpc>
              <a:buNone/>
            </a:pPr>
            <a:r>
              <a:rPr lang="en-US" sz="3900" b="1" dirty="0">
                <a:solidFill>
                  <a:srgbClr val="231971"/>
                </a:solidFill>
                <a:latin typeface="Outfit Extra Bold" pitchFamily="34" charset="0"/>
                <a:ea typeface="Outfit Extra Bold" pitchFamily="34" charset="-122"/>
                <a:cs typeface="Outfit Extra Bold" pitchFamily="34" charset="-120"/>
              </a:rPr>
              <a:t>Προστασία της δημοκρατίας και προάσπιση των αξιών μας</a:t>
            </a:r>
            <a:endParaRPr lang="en-US" sz="3900" dirty="0"/>
          </a:p>
        </p:txBody>
      </p:sp>
      <p:sp>
        <p:nvSpPr>
          <p:cNvPr id="3" name="Shape 1"/>
          <p:cNvSpPr/>
          <p:nvPr/>
        </p:nvSpPr>
        <p:spPr>
          <a:xfrm>
            <a:off x="7303770" y="2181820"/>
            <a:ext cx="22860" cy="3469362"/>
          </a:xfrm>
          <a:prstGeom prst="roundRect">
            <a:avLst>
              <a:gd name="adj" fmla="val 364255"/>
            </a:avLst>
          </a:prstGeom>
          <a:solidFill>
            <a:srgbClr val="BDB8DF"/>
          </a:solidFill>
          <a:ln/>
        </p:spPr>
      </p:sp>
      <p:sp>
        <p:nvSpPr>
          <p:cNvPr id="4" name="Shape 2"/>
          <p:cNvSpPr/>
          <p:nvPr/>
        </p:nvSpPr>
        <p:spPr>
          <a:xfrm>
            <a:off x="6520339" y="2616398"/>
            <a:ext cx="594717" cy="22860"/>
          </a:xfrm>
          <a:prstGeom prst="roundRect">
            <a:avLst>
              <a:gd name="adj" fmla="val 364255"/>
            </a:avLst>
          </a:prstGeom>
          <a:solidFill>
            <a:srgbClr val="BDB8DF"/>
          </a:solidFill>
          <a:ln/>
        </p:spPr>
      </p:sp>
      <p:sp>
        <p:nvSpPr>
          <p:cNvPr id="5" name="Shape 3"/>
          <p:cNvSpPr/>
          <p:nvPr/>
        </p:nvSpPr>
        <p:spPr>
          <a:xfrm>
            <a:off x="7092196" y="2404824"/>
            <a:ext cx="446008" cy="446008"/>
          </a:xfrm>
          <a:prstGeom prst="roundRect">
            <a:avLst>
              <a:gd name="adj" fmla="val 18670"/>
            </a:avLst>
          </a:prstGeom>
          <a:solidFill>
            <a:srgbClr val="E9E6FA"/>
          </a:solidFill>
          <a:ln w="7620">
            <a:solidFill>
              <a:srgbClr val="BDB8DF"/>
            </a:solidFill>
            <a:prstDash val="solid"/>
          </a:ln>
        </p:spPr>
      </p:sp>
      <p:pic>
        <p:nvPicPr>
          <p:cNvPr id="6" name="Image 0" descr="preencoded.png">    </p:cNvPr>
          <p:cNvPicPr>
            <a:picLocks noChangeAspect="1"/>
          </p:cNvPicPr>
          <p:nvPr/>
        </p:nvPicPr>
        <p:blipFill>
          <a:blip r:embed="rId1"/>
          <a:stretch>
            <a:fillRect/>
          </a:stretch>
        </p:blipFill>
        <p:spPr>
          <a:xfrm>
            <a:off x="7166550" y="2441972"/>
            <a:ext cx="297299" cy="371713"/>
          </a:xfrm>
          <a:prstGeom prst="rect">
            <a:avLst/>
          </a:prstGeom>
        </p:spPr>
      </p:pic>
      <p:sp>
        <p:nvSpPr>
          <p:cNvPr id="7" name="Text 4"/>
          <p:cNvSpPr/>
          <p:nvPr/>
        </p:nvSpPr>
        <p:spPr>
          <a:xfrm>
            <a:off x="2824996" y="2380059"/>
            <a:ext cx="3499009" cy="309682"/>
          </a:xfrm>
          <a:prstGeom prst="rect">
            <a:avLst/>
          </a:prstGeom>
          <a:noFill/>
          <a:ln/>
        </p:spPr>
        <p:txBody>
          <a:bodyPr wrap="none" lIns="0" tIns="0" rIns="0" bIns="0" rtlCol="0" anchor="t"/>
          <a:lstStyle/>
          <a:p>
            <a:pPr algn="r" indent="0" marL="0">
              <a:lnSpc>
                <a:spcPts val="2400"/>
              </a:lnSpc>
              <a:buNone/>
            </a:pPr>
            <a:r>
              <a:rPr lang="en-US" sz="1950" b="1" dirty="0">
                <a:solidFill>
                  <a:srgbClr val="2A2742"/>
                </a:solidFill>
                <a:latin typeface="Outfit Extra Bold" pitchFamily="34" charset="0"/>
                <a:ea typeface="Outfit Extra Bold" pitchFamily="34" charset="-122"/>
                <a:cs typeface="Outfit Extra Bold" pitchFamily="34" charset="-120"/>
              </a:rPr>
              <a:t>Προστασία της δημοκρατίας</a:t>
            </a:r>
            <a:endParaRPr lang="en-US" sz="1950" dirty="0"/>
          </a:p>
        </p:txBody>
      </p:sp>
      <p:sp>
        <p:nvSpPr>
          <p:cNvPr id="8" name="Text 5"/>
          <p:cNvSpPr/>
          <p:nvPr/>
        </p:nvSpPr>
        <p:spPr>
          <a:xfrm>
            <a:off x="693896" y="2808684"/>
            <a:ext cx="5630108" cy="634365"/>
          </a:xfrm>
          <a:prstGeom prst="rect">
            <a:avLst/>
          </a:prstGeom>
          <a:noFill/>
          <a:ln/>
        </p:spPr>
        <p:txBody>
          <a:bodyPr wrap="square" lIns="0" tIns="0" rIns="0" bIns="0" rtlCol="0" anchor="t"/>
          <a:lstStyle/>
          <a:p>
            <a:pPr algn="r" indent="0" marL="0">
              <a:lnSpc>
                <a:spcPts val="2450"/>
              </a:lnSpc>
              <a:buNone/>
            </a:pPr>
            <a:r>
              <a:rPr lang="en-US" sz="1550" dirty="0">
                <a:solidFill>
                  <a:srgbClr val="2A2742"/>
                </a:solidFill>
                <a:latin typeface="Arimo" pitchFamily="34" charset="0"/>
                <a:ea typeface="Arimo" pitchFamily="34" charset="-122"/>
                <a:cs typeface="Arimo" pitchFamily="34" charset="-120"/>
              </a:rPr>
              <a:t>Υπεράσπιση των δημοκρατικών θεσμών και αύξηση της ανθεκτικότητας της κοινωνίας</a:t>
            </a:r>
            <a:endParaRPr lang="en-US" sz="1550" dirty="0"/>
          </a:p>
        </p:txBody>
      </p:sp>
      <p:sp>
        <p:nvSpPr>
          <p:cNvPr id="9" name="Shape 6"/>
          <p:cNvSpPr/>
          <p:nvPr/>
        </p:nvSpPr>
        <p:spPr>
          <a:xfrm>
            <a:off x="7515344" y="3607594"/>
            <a:ext cx="594717" cy="22860"/>
          </a:xfrm>
          <a:prstGeom prst="roundRect">
            <a:avLst>
              <a:gd name="adj" fmla="val 364255"/>
            </a:avLst>
          </a:prstGeom>
          <a:solidFill>
            <a:srgbClr val="BDB8DF"/>
          </a:solidFill>
          <a:ln/>
        </p:spPr>
      </p:sp>
      <p:sp>
        <p:nvSpPr>
          <p:cNvPr id="10" name="Shape 7"/>
          <p:cNvSpPr/>
          <p:nvPr/>
        </p:nvSpPr>
        <p:spPr>
          <a:xfrm>
            <a:off x="7092196" y="3396020"/>
            <a:ext cx="446008" cy="446008"/>
          </a:xfrm>
          <a:prstGeom prst="roundRect">
            <a:avLst>
              <a:gd name="adj" fmla="val 18670"/>
            </a:avLst>
          </a:prstGeom>
          <a:solidFill>
            <a:srgbClr val="E9E6FA"/>
          </a:solidFill>
          <a:ln w="7620">
            <a:solidFill>
              <a:srgbClr val="BDB8DF"/>
            </a:solidFill>
            <a:prstDash val="solid"/>
          </a:ln>
        </p:spPr>
      </p:sp>
      <p:pic>
        <p:nvPicPr>
          <p:cNvPr id="11" name="Image 1" descr="preencoded.png">    </p:cNvPr>
          <p:cNvPicPr>
            <a:picLocks noChangeAspect="1"/>
          </p:cNvPicPr>
          <p:nvPr/>
        </p:nvPicPr>
        <p:blipFill>
          <a:blip r:embed="rId2"/>
          <a:stretch>
            <a:fillRect/>
          </a:stretch>
        </p:blipFill>
        <p:spPr>
          <a:xfrm>
            <a:off x="7166550" y="3433167"/>
            <a:ext cx="297299" cy="371713"/>
          </a:xfrm>
          <a:prstGeom prst="rect">
            <a:avLst/>
          </a:prstGeom>
        </p:spPr>
      </p:pic>
      <p:sp>
        <p:nvSpPr>
          <p:cNvPr id="12" name="Text 8"/>
          <p:cNvSpPr/>
          <p:nvPr/>
        </p:nvSpPr>
        <p:spPr>
          <a:xfrm>
            <a:off x="8306395" y="3371255"/>
            <a:ext cx="3783449" cy="309682"/>
          </a:xfrm>
          <a:prstGeom prst="rect">
            <a:avLst/>
          </a:prstGeom>
          <a:noFill/>
          <a:ln/>
        </p:spPr>
        <p:txBody>
          <a:bodyPr wrap="none" lIns="0" tIns="0" rIns="0" bIns="0" rtlCol="0" anchor="t"/>
          <a:lstStyle/>
          <a:p>
            <a:pPr algn="l" indent="0" marL="0">
              <a:lnSpc>
                <a:spcPts val="2400"/>
              </a:lnSpc>
              <a:buNone/>
            </a:pPr>
            <a:r>
              <a:rPr lang="en-US" sz="1950" b="1" dirty="0">
                <a:solidFill>
                  <a:srgbClr val="2A2742"/>
                </a:solidFill>
                <a:latin typeface="Outfit Extra Bold" pitchFamily="34" charset="0"/>
                <a:ea typeface="Outfit Extra Bold" pitchFamily="34" charset="-122"/>
                <a:cs typeface="Outfit Extra Bold" pitchFamily="34" charset="-120"/>
              </a:rPr>
              <a:t>Ενίσχυση του κράτους δικαίου</a:t>
            </a:r>
            <a:endParaRPr lang="en-US" sz="1950" dirty="0"/>
          </a:p>
        </p:txBody>
      </p:sp>
      <p:sp>
        <p:nvSpPr>
          <p:cNvPr id="13" name="Text 9"/>
          <p:cNvSpPr/>
          <p:nvPr/>
        </p:nvSpPr>
        <p:spPr>
          <a:xfrm>
            <a:off x="8306395" y="3799880"/>
            <a:ext cx="5630108" cy="317183"/>
          </a:xfrm>
          <a:prstGeom prst="rect">
            <a:avLst/>
          </a:prstGeom>
          <a:noFill/>
          <a:ln/>
        </p:spPr>
        <p:txBody>
          <a:bodyPr wrap="none" lIns="0" tIns="0" rIns="0" bIns="0" rtlCol="0" anchor="t"/>
          <a:lstStyle/>
          <a:p>
            <a:pPr algn="l" indent="0" marL="0">
              <a:lnSpc>
                <a:spcPts val="2450"/>
              </a:lnSpc>
              <a:buNone/>
            </a:pPr>
            <a:r>
              <a:rPr lang="en-US" sz="1550" dirty="0">
                <a:solidFill>
                  <a:srgbClr val="2A2742"/>
                </a:solidFill>
                <a:latin typeface="Arimo" pitchFamily="34" charset="0"/>
                <a:ea typeface="Arimo" pitchFamily="34" charset="-122"/>
                <a:cs typeface="Arimo" pitchFamily="34" charset="-120"/>
              </a:rPr>
              <a:t>Διασφάλιση της δίκαιης και εύρυθμης λειτουργίας της κοινωνίας</a:t>
            </a:r>
            <a:endParaRPr lang="en-US" sz="1550" dirty="0"/>
          </a:p>
        </p:txBody>
      </p:sp>
      <p:sp>
        <p:nvSpPr>
          <p:cNvPr id="14" name="Shape 10"/>
          <p:cNvSpPr/>
          <p:nvPr/>
        </p:nvSpPr>
        <p:spPr>
          <a:xfrm>
            <a:off x="6520339" y="4499729"/>
            <a:ext cx="594717" cy="22860"/>
          </a:xfrm>
          <a:prstGeom prst="roundRect">
            <a:avLst>
              <a:gd name="adj" fmla="val 364255"/>
            </a:avLst>
          </a:prstGeom>
          <a:solidFill>
            <a:srgbClr val="BDB8DF"/>
          </a:solidFill>
          <a:ln/>
        </p:spPr>
      </p:sp>
      <p:sp>
        <p:nvSpPr>
          <p:cNvPr id="15" name="Shape 11"/>
          <p:cNvSpPr/>
          <p:nvPr/>
        </p:nvSpPr>
        <p:spPr>
          <a:xfrm>
            <a:off x="7092196" y="4288155"/>
            <a:ext cx="446008" cy="446008"/>
          </a:xfrm>
          <a:prstGeom prst="roundRect">
            <a:avLst>
              <a:gd name="adj" fmla="val 18670"/>
            </a:avLst>
          </a:prstGeom>
          <a:solidFill>
            <a:srgbClr val="E9E6FA"/>
          </a:solidFill>
          <a:ln w="7620">
            <a:solidFill>
              <a:srgbClr val="BDB8DF"/>
            </a:solidFill>
            <a:prstDash val="solid"/>
          </a:ln>
        </p:spPr>
      </p:sp>
      <p:pic>
        <p:nvPicPr>
          <p:cNvPr id="16" name="Image 2" descr="preencoded.png">    </p:cNvPr>
          <p:cNvPicPr>
            <a:picLocks noChangeAspect="1"/>
          </p:cNvPicPr>
          <p:nvPr/>
        </p:nvPicPr>
        <p:blipFill>
          <a:blip r:embed="rId3"/>
          <a:stretch>
            <a:fillRect/>
          </a:stretch>
        </p:blipFill>
        <p:spPr>
          <a:xfrm>
            <a:off x="7166550" y="4362450"/>
            <a:ext cx="297299" cy="297299"/>
          </a:xfrm>
          <a:prstGeom prst="rect">
            <a:avLst/>
          </a:prstGeom>
        </p:spPr>
      </p:pic>
      <p:sp>
        <p:nvSpPr>
          <p:cNvPr id="17" name="Text 12"/>
          <p:cNvSpPr/>
          <p:nvPr/>
        </p:nvSpPr>
        <p:spPr>
          <a:xfrm>
            <a:off x="1290757" y="4263390"/>
            <a:ext cx="5033248" cy="309682"/>
          </a:xfrm>
          <a:prstGeom prst="rect">
            <a:avLst/>
          </a:prstGeom>
          <a:noFill/>
          <a:ln/>
        </p:spPr>
        <p:txBody>
          <a:bodyPr wrap="none" lIns="0" tIns="0" rIns="0" bIns="0" rtlCol="0" anchor="t"/>
          <a:lstStyle/>
          <a:p>
            <a:pPr algn="r" indent="0" marL="0">
              <a:lnSpc>
                <a:spcPts val="2400"/>
              </a:lnSpc>
              <a:buNone/>
            </a:pPr>
            <a:r>
              <a:rPr lang="en-US" sz="1950" b="1" dirty="0">
                <a:solidFill>
                  <a:srgbClr val="2A2742"/>
                </a:solidFill>
                <a:latin typeface="Outfit Extra Bold" pitchFamily="34" charset="0"/>
                <a:ea typeface="Outfit Extra Bold" pitchFamily="34" charset="-122"/>
                <a:cs typeface="Outfit Extra Bold" pitchFamily="34" charset="-120"/>
              </a:rPr>
              <a:t>Προώθηση της συμμετοχής των πολιτών</a:t>
            </a:r>
            <a:endParaRPr lang="en-US" sz="1950" dirty="0"/>
          </a:p>
        </p:txBody>
      </p:sp>
      <p:sp>
        <p:nvSpPr>
          <p:cNvPr id="18" name="Text 13"/>
          <p:cNvSpPr/>
          <p:nvPr/>
        </p:nvSpPr>
        <p:spPr>
          <a:xfrm>
            <a:off x="693896" y="4692015"/>
            <a:ext cx="5630108" cy="317183"/>
          </a:xfrm>
          <a:prstGeom prst="rect">
            <a:avLst/>
          </a:prstGeom>
          <a:noFill/>
          <a:ln/>
        </p:spPr>
        <p:txBody>
          <a:bodyPr wrap="none" lIns="0" tIns="0" rIns="0" bIns="0" rtlCol="0" anchor="t"/>
          <a:lstStyle/>
          <a:p>
            <a:pPr algn="r" indent="0" marL="0">
              <a:lnSpc>
                <a:spcPts val="2450"/>
              </a:lnSpc>
              <a:buNone/>
            </a:pPr>
            <a:r>
              <a:rPr lang="en-US" sz="1550" dirty="0">
                <a:solidFill>
                  <a:srgbClr val="2A2742"/>
                </a:solidFill>
                <a:latin typeface="Arimo" pitchFamily="34" charset="0"/>
                <a:ea typeface="Arimo" pitchFamily="34" charset="-122"/>
                <a:cs typeface="Arimo" pitchFamily="34" charset="-120"/>
              </a:rPr>
              <a:t>Ενθάρρυνση του ενεργού ρόλου των πολιτών στα κοινά</a:t>
            </a:r>
            <a:endParaRPr lang="en-US" sz="1550" dirty="0"/>
          </a:p>
        </p:txBody>
      </p:sp>
      <p:sp>
        <p:nvSpPr>
          <p:cNvPr id="19" name="Text 14"/>
          <p:cNvSpPr/>
          <p:nvPr/>
        </p:nvSpPr>
        <p:spPr>
          <a:xfrm>
            <a:off x="693896" y="5874187"/>
            <a:ext cx="13242608" cy="634365"/>
          </a:xfrm>
          <a:prstGeom prst="rect">
            <a:avLst/>
          </a:prstGeom>
          <a:noFill/>
          <a:ln/>
        </p:spPr>
        <p:txBody>
          <a:bodyPr wrap="square" lIns="0" tIns="0" rIns="0" bIns="0" rtlCol="0" anchor="t"/>
          <a:lstStyle/>
          <a:p>
            <a:pPr algn="l" indent="0" marL="0">
              <a:lnSpc>
                <a:spcPts val="2450"/>
              </a:lnSpc>
              <a:buNone/>
            </a:pPr>
            <a:r>
              <a:rPr lang="en-US" sz="1550" dirty="0">
                <a:solidFill>
                  <a:srgbClr val="2A2742"/>
                </a:solidFill>
                <a:latin typeface="Arimo" pitchFamily="34" charset="0"/>
                <a:ea typeface="Arimo" pitchFamily="34" charset="-122"/>
                <a:cs typeface="Arimo" pitchFamily="34" charset="-120"/>
              </a:rPr>
              <a:t>Η πέμπτη προτεραιότητα της Επιτροπής αφορά την προστασία της δημοκρατίας και την προάσπιση των ευρωπαϊκών αξιών. Σε μια εποχή που οι δημοκρατικοί θεσμοί αντιμετωπίζουν προκλήσεις παγκοσμίως, η ΕΕ επιδιώκει να ενισχύσει την ανθεκτικότητα και την ετοιμότητα της κοινωνίας.</a:t>
            </a:r>
            <a:endParaRPr lang="en-US" sz="1550" dirty="0"/>
          </a:p>
        </p:txBody>
      </p:sp>
      <p:sp>
        <p:nvSpPr>
          <p:cNvPr id="20" name="Text 15"/>
          <p:cNvSpPr/>
          <p:nvPr/>
        </p:nvSpPr>
        <p:spPr>
          <a:xfrm>
            <a:off x="693896" y="6731556"/>
            <a:ext cx="13242608" cy="951548"/>
          </a:xfrm>
          <a:prstGeom prst="rect">
            <a:avLst/>
          </a:prstGeom>
          <a:noFill/>
          <a:ln/>
        </p:spPr>
        <p:txBody>
          <a:bodyPr wrap="square" lIns="0" tIns="0" rIns="0" bIns="0" rtlCol="0" anchor="t"/>
          <a:lstStyle/>
          <a:p>
            <a:pPr algn="l" indent="0" marL="0">
              <a:lnSpc>
                <a:spcPts val="2450"/>
              </a:lnSpc>
              <a:buNone/>
            </a:pPr>
            <a:r>
              <a:rPr lang="en-US" sz="1550" dirty="0">
                <a:solidFill>
                  <a:srgbClr val="2A2742"/>
                </a:solidFill>
                <a:latin typeface="Arimo" pitchFamily="34" charset="0"/>
                <a:ea typeface="Arimo" pitchFamily="34" charset="-122"/>
                <a:cs typeface="Arimo" pitchFamily="34" charset="-120"/>
              </a:rPr>
              <a:t>Ιδιαίτερη έμφαση δίνεται στην ενίσχυση του κράτους δικαίου, που αποτελεί θεμελιώδη αξία της ΕΕ και εγγυάται τη δίκαιη και εύρυθμη λειτουργία της κοινωνίας. Παράλληλα, η ΕΕ στοχεύει στην προώθηση του ενεργού ρόλου και της συμμετοχής των πολιτών στα κοινά, ώστε οι ιδέες τους να βρίσκονται στο επίκεντρο της χάραξης πολιτικής.</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18899" y="565547"/>
            <a:ext cx="13192601" cy="1283732"/>
          </a:xfrm>
          <a:prstGeom prst="rect">
            <a:avLst/>
          </a:prstGeom>
          <a:noFill/>
          <a:ln/>
        </p:spPr>
        <p:txBody>
          <a:bodyPr wrap="square" lIns="0" tIns="0" rIns="0" bIns="0" rtlCol="0" anchor="t"/>
          <a:lstStyle/>
          <a:p>
            <a:pPr algn="l" indent="0" marL="0">
              <a:lnSpc>
                <a:spcPts val="5050"/>
              </a:lnSpc>
              <a:buNone/>
            </a:pPr>
            <a:r>
              <a:rPr lang="en-US" sz="4000" b="1" dirty="0">
                <a:solidFill>
                  <a:srgbClr val="231971"/>
                </a:solidFill>
                <a:latin typeface="Outfit Extra Bold" pitchFamily="34" charset="0"/>
                <a:ea typeface="Outfit Extra Bold" pitchFamily="34" charset="-122"/>
                <a:cs typeface="Outfit Extra Bold" pitchFamily="34" charset="-120"/>
              </a:rPr>
              <a:t>Η Ευρώπη στον κόσμο και η προετοιμασία για το μέλλον</a:t>
            </a:r>
            <a:endParaRPr lang="en-US" sz="4000" dirty="0"/>
          </a:p>
        </p:txBody>
      </p:sp>
      <p:sp>
        <p:nvSpPr>
          <p:cNvPr id="3" name="Text 1"/>
          <p:cNvSpPr/>
          <p:nvPr/>
        </p:nvSpPr>
        <p:spPr>
          <a:xfrm>
            <a:off x="718899" y="2362676"/>
            <a:ext cx="2818328" cy="320992"/>
          </a:xfrm>
          <a:prstGeom prst="rect">
            <a:avLst/>
          </a:prstGeom>
          <a:noFill/>
          <a:ln/>
        </p:spPr>
        <p:txBody>
          <a:bodyPr wrap="none" lIns="0" tIns="0" rIns="0" bIns="0" rtlCol="0" anchor="t"/>
          <a:lstStyle/>
          <a:p>
            <a:pPr algn="l" indent="0" marL="0">
              <a:lnSpc>
                <a:spcPts val="2500"/>
              </a:lnSpc>
              <a:buNone/>
            </a:pPr>
            <a:r>
              <a:rPr lang="en-US" sz="2000" b="1" dirty="0">
                <a:solidFill>
                  <a:srgbClr val="231971"/>
                </a:solidFill>
                <a:latin typeface="Outfit Extra Bold" pitchFamily="34" charset="0"/>
                <a:ea typeface="Outfit Extra Bold" pitchFamily="34" charset="-122"/>
                <a:cs typeface="Outfit Extra Bold" pitchFamily="34" charset="-120"/>
              </a:rPr>
              <a:t>Η Ευρώπη στον κόσμο</a:t>
            </a:r>
            <a:endParaRPr lang="en-US" sz="2000" dirty="0"/>
          </a:p>
        </p:txBody>
      </p:sp>
      <p:sp>
        <p:nvSpPr>
          <p:cNvPr id="4" name="Text 2"/>
          <p:cNvSpPr/>
          <p:nvPr/>
        </p:nvSpPr>
        <p:spPr>
          <a:xfrm>
            <a:off x="718899" y="2889052"/>
            <a:ext cx="6345793" cy="1314450"/>
          </a:xfrm>
          <a:prstGeom prst="rect">
            <a:avLst/>
          </a:prstGeom>
          <a:noFill/>
          <a:ln/>
        </p:spPr>
        <p:txBody>
          <a:bodyPr wrap="square" lIns="0" tIns="0" rIns="0" bIns="0" rtlCol="0" anchor="t"/>
          <a:lstStyle/>
          <a:p>
            <a:pPr algn="l" indent="0" marL="0">
              <a:lnSpc>
                <a:spcPts val="2550"/>
              </a:lnSpc>
              <a:buNone/>
            </a:pPr>
            <a:r>
              <a:rPr lang="en-US" sz="1600" dirty="0">
                <a:solidFill>
                  <a:srgbClr val="2A2742"/>
                </a:solidFill>
                <a:latin typeface="Arimo" pitchFamily="34" charset="0"/>
                <a:ea typeface="Arimo" pitchFamily="34" charset="-122"/>
                <a:cs typeface="Arimo" pitchFamily="34" charset="-120"/>
              </a:rPr>
              <a:t>Ανάληψη προσπαθειών για τη διεύρυνση της ΕΕ ώστε να αυξηθεί η επιρροή μας στην παγκόσμια σκηνή. Εστίαση στην ευρύτερη γειτονιά μας για την προώθηση της ειρήνης, των εταιρικών σχέσεων και της οικονομικής σταθερότητας.</a:t>
            </a:r>
            <a:endParaRPr lang="en-US" sz="1600" dirty="0"/>
          </a:p>
        </p:txBody>
      </p:sp>
      <p:sp>
        <p:nvSpPr>
          <p:cNvPr id="5" name="Text 3"/>
          <p:cNvSpPr/>
          <p:nvPr/>
        </p:nvSpPr>
        <p:spPr>
          <a:xfrm>
            <a:off x="718899" y="4388287"/>
            <a:ext cx="6345793" cy="985837"/>
          </a:xfrm>
          <a:prstGeom prst="rect">
            <a:avLst/>
          </a:prstGeom>
          <a:noFill/>
          <a:ln/>
        </p:spPr>
        <p:txBody>
          <a:bodyPr wrap="square" lIns="0" tIns="0" rIns="0" bIns="0" rtlCol="0" anchor="t"/>
          <a:lstStyle/>
          <a:p>
            <a:pPr algn="l" indent="0" marL="0">
              <a:lnSpc>
                <a:spcPts val="2550"/>
              </a:lnSpc>
              <a:buNone/>
            </a:pPr>
            <a:r>
              <a:rPr lang="en-US" sz="1600" dirty="0">
                <a:solidFill>
                  <a:srgbClr val="2A2742"/>
                </a:solidFill>
                <a:latin typeface="Arimo" pitchFamily="34" charset="0"/>
                <a:ea typeface="Arimo" pitchFamily="34" charset="-122"/>
                <a:cs typeface="Arimo" pitchFamily="34" charset="-120"/>
              </a:rPr>
              <a:t>Χάραξη μιας νέας οικονομικής εξωτερικής πολιτικής και μεταρρύθμιση του διεθνούς συστήματος ώστε να καταστεί κατάλληλο για τον σημερινό κόσμο.</a:t>
            </a:r>
            <a:endParaRPr lang="en-US" sz="1600" dirty="0"/>
          </a:p>
        </p:txBody>
      </p:sp>
      <p:sp>
        <p:nvSpPr>
          <p:cNvPr id="6" name="Text 4"/>
          <p:cNvSpPr/>
          <p:nvPr/>
        </p:nvSpPr>
        <p:spPr>
          <a:xfrm>
            <a:off x="7573327" y="2362676"/>
            <a:ext cx="5163503" cy="320992"/>
          </a:xfrm>
          <a:prstGeom prst="rect">
            <a:avLst/>
          </a:prstGeom>
          <a:noFill/>
          <a:ln/>
        </p:spPr>
        <p:txBody>
          <a:bodyPr wrap="none" lIns="0" tIns="0" rIns="0" bIns="0" rtlCol="0" anchor="t"/>
          <a:lstStyle/>
          <a:p>
            <a:pPr algn="l" indent="0" marL="0">
              <a:lnSpc>
                <a:spcPts val="2500"/>
              </a:lnSpc>
              <a:buNone/>
            </a:pPr>
            <a:r>
              <a:rPr lang="en-US" sz="2000" b="1" dirty="0">
                <a:solidFill>
                  <a:srgbClr val="231971"/>
                </a:solidFill>
                <a:latin typeface="Outfit Extra Bold" pitchFamily="34" charset="0"/>
                <a:ea typeface="Outfit Extra Bold" pitchFamily="34" charset="-122"/>
                <a:cs typeface="Outfit Extra Bold" pitchFamily="34" charset="-120"/>
              </a:rPr>
              <a:t>Προετοιμασία της Ένωσης για το μέλλον</a:t>
            </a:r>
            <a:endParaRPr lang="en-US" sz="2000" dirty="0"/>
          </a:p>
        </p:txBody>
      </p:sp>
      <p:sp>
        <p:nvSpPr>
          <p:cNvPr id="7" name="Text 5"/>
          <p:cNvSpPr/>
          <p:nvPr/>
        </p:nvSpPr>
        <p:spPr>
          <a:xfrm>
            <a:off x="7573327" y="2889052"/>
            <a:ext cx="6345793" cy="985837"/>
          </a:xfrm>
          <a:prstGeom prst="rect">
            <a:avLst/>
          </a:prstGeom>
          <a:noFill/>
          <a:ln/>
        </p:spPr>
        <p:txBody>
          <a:bodyPr wrap="square" lIns="0" tIns="0" rIns="0" bIns="0" rtlCol="0" anchor="t"/>
          <a:lstStyle/>
          <a:p>
            <a:pPr algn="l" indent="0" marL="0">
              <a:lnSpc>
                <a:spcPts val="2550"/>
              </a:lnSpc>
              <a:buNone/>
            </a:pPr>
            <a:r>
              <a:rPr lang="en-US" sz="1600" dirty="0">
                <a:solidFill>
                  <a:srgbClr val="2A2742"/>
                </a:solidFill>
                <a:latin typeface="Arimo" pitchFamily="34" charset="0"/>
                <a:ea typeface="Arimo" pitchFamily="34" charset="-122"/>
                <a:cs typeface="Arimo" pitchFamily="34" charset="-120"/>
              </a:rPr>
              <a:t>Ανάπτυξη ενός απλούστερου και πιο αποτελεσματικού προϋπολογισμού της ΕΕ, προκειμένου τα κονδύλιά της να χορηγούνται εκεί που είναι περισσότερο απαραίτητα.</a:t>
            </a:r>
            <a:endParaRPr lang="en-US" sz="1600" dirty="0"/>
          </a:p>
        </p:txBody>
      </p:sp>
      <p:sp>
        <p:nvSpPr>
          <p:cNvPr id="8" name="Text 6"/>
          <p:cNvSpPr/>
          <p:nvPr/>
        </p:nvSpPr>
        <p:spPr>
          <a:xfrm>
            <a:off x="7573327" y="4059674"/>
            <a:ext cx="6345793" cy="985837"/>
          </a:xfrm>
          <a:prstGeom prst="rect">
            <a:avLst/>
          </a:prstGeom>
          <a:noFill/>
          <a:ln/>
        </p:spPr>
        <p:txBody>
          <a:bodyPr wrap="square" lIns="0" tIns="0" rIns="0" bIns="0" rtlCol="0" anchor="t"/>
          <a:lstStyle/>
          <a:p>
            <a:pPr algn="l" indent="0" marL="0">
              <a:lnSpc>
                <a:spcPts val="2550"/>
              </a:lnSpc>
              <a:buNone/>
            </a:pPr>
            <a:r>
              <a:rPr lang="en-US" sz="1600" dirty="0">
                <a:solidFill>
                  <a:srgbClr val="2A2742"/>
                </a:solidFill>
                <a:latin typeface="Arimo" pitchFamily="34" charset="0"/>
                <a:ea typeface="Arimo" pitchFamily="34" charset="-122"/>
                <a:cs typeface="Arimo" pitchFamily="34" charset="-120"/>
              </a:rPr>
              <a:t>Εφαρμογή μεταρρυθμίσεων για τη διασφάλιση της ορθής λειτουργίας μιας ευρύτερης ένωσης και ενίσχυση της εταιρικής σχέσης μεταξύ της Ευρωπαϊκής Επιτροπής και του Ευρωπαϊκού Κοινοβουλίου.</a:t>
            </a:r>
            <a:endParaRPr lang="en-US" sz="1600" dirty="0"/>
          </a:p>
        </p:txBody>
      </p:sp>
      <p:sp>
        <p:nvSpPr>
          <p:cNvPr id="9" name="Text 7"/>
          <p:cNvSpPr/>
          <p:nvPr/>
        </p:nvSpPr>
        <p:spPr>
          <a:xfrm>
            <a:off x="718899" y="5789890"/>
            <a:ext cx="13192601" cy="657225"/>
          </a:xfrm>
          <a:prstGeom prst="rect">
            <a:avLst/>
          </a:prstGeom>
          <a:noFill/>
          <a:ln/>
        </p:spPr>
        <p:txBody>
          <a:bodyPr wrap="square" lIns="0" tIns="0" rIns="0" bIns="0" rtlCol="0" anchor="t"/>
          <a:lstStyle/>
          <a:p>
            <a:pPr algn="l" indent="0" marL="0">
              <a:lnSpc>
                <a:spcPts val="2550"/>
              </a:lnSpc>
              <a:buNone/>
            </a:pPr>
            <a:r>
              <a:rPr lang="en-US" sz="1600" dirty="0">
                <a:solidFill>
                  <a:srgbClr val="2A2742"/>
                </a:solidFill>
                <a:latin typeface="Arimo" pitchFamily="34" charset="0"/>
                <a:ea typeface="Arimo" pitchFamily="34" charset="-122"/>
                <a:cs typeface="Arimo" pitchFamily="34" charset="-120"/>
              </a:rPr>
              <a:t>Οι δύο τελευταίες προτεραιότητες της Επιτροπής αφορούν τον ρόλο της Ευρώπης στον κόσμο και την προετοιμασία της Ένωσης για το μέλλον. Η ΕΕ επιδιώκει να ενισχύσει την παρουσία της στην παγκόσμια σκηνή μέσω της διεύρυνσης και της ανάπτυξης ισχυρών εταιρικών σχέσεων.</a:t>
            </a:r>
            <a:endParaRPr lang="en-US" sz="1600" dirty="0"/>
          </a:p>
        </p:txBody>
      </p:sp>
      <p:sp>
        <p:nvSpPr>
          <p:cNvPr id="10" name="Text 8"/>
          <p:cNvSpPr/>
          <p:nvPr/>
        </p:nvSpPr>
        <p:spPr>
          <a:xfrm>
            <a:off x="718899" y="6678097"/>
            <a:ext cx="13192601" cy="985837"/>
          </a:xfrm>
          <a:prstGeom prst="rect">
            <a:avLst/>
          </a:prstGeom>
          <a:noFill/>
          <a:ln/>
        </p:spPr>
        <p:txBody>
          <a:bodyPr wrap="square" lIns="0" tIns="0" rIns="0" bIns="0" rtlCol="0" anchor="t"/>
          <a:lstStyle/>
          <a:p>
            <a:pPr algn="l" indent="0" marL="0">
              <a:lnSpc>
                <a:spcPts val="2550"/>
              </a:lnSpc>
              <a:buNone/>
            </a:pPr>
            <a:r>
              <a:rPr lang="en-US" sz="1600" dirty="0">
                <a:solidFill>
                  <a:srgbClr val="2A2742"/>
                </a:solidFill>
                <a:latin typeface="Arimo" pitchFamily="34" charset="0"/>
                <a:ea typeface="Arimo" pitchFamily="34" charset="-122"/>
                <a:cs typeface="Arimo" pitchFamily="34" charset="-120"/>
              </a:rPr>
              <a:t>Παράλληλα, προετοιμάζεται για το μέλλον μέσω της μεταρρύθμισης του προϋπολογισμού της και της ενίσχυσης της συνεργασίας μεταξύ των θεσμικών της οργάνων. Στόχος είναι η δημιουργία μιας πιο αποτελεσματικής και ευέλικτης Ένωσης, ικανής να ανταποκριθεί στις προκλήσεις του μέλλοντος.</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2025-04-24T09:01:20Z</dcterms:created>
  <dcterms:modified xsi:type="dcterms:W3CDTF">2025-04-24T09:01:20Z</dcterms:modified>
</cp:coreProperties>
</file>